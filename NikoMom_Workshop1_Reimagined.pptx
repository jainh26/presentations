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74920" y="1051560"/>
            <a:ext cx="868680" cy="868680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2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133856"/>
            <a:ext cx="4114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14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D71E83"/>
                </a:solidFill>
                <a:latin typeface="Aptos"/>
              </a:rPr>
              <a:t>BRAND CREATION WORKSHOP 1  ·  REIMAGINED FROM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400" b="1" i="0">
                <a:solidFill>
                  <a:srgbClr val="57307F"/>
                </a:solidFill>
                <a:latin typeface="Aptos Display"/>
              </a:rPr>
              <a:t>NikoMom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454551"/>
                </a:solidFill>
                <a:latin typeface="Aptos Display"/>
              </a:rPr>
              <a:t>Building India's most trusted, globally scalable baby-care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4709160"/>
            <a:ext cx="4114800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4114800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1">
                <a:solidFill>
                  <a:srgbClr val="454551"/>
                </a:solidFill>
                <a:latin typeface="Aptos"/>
              </a:rPr>
              <a:t>A board-level strategic recommendation by the Global Brand Council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8C8C8C"/>
                </a:solidFill>
                <a:latin typeface="Aptos"/>
              </a:rPr>
              <a:t>Challenge everything. Keep only what survives scrutiny.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   ·   Confidential. Circulation Restricted.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mandate: do not redesign — reimagine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6400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454551"/>
                </a:solidFill>
                <a:latin typeface="Aptos"/>
              </a:rPr>
              <a:t>We were not asked to refine packaging. We were asked whether </a:t>
            </a:r>
            <a:r>
              <a:rPr sz="1300" b="1" i="0">
                <a:solidFill>
                  <a:srgbClr val="D71E83"/>
                </a:solidFill>
                <a:latin typeface="Aptos"/>
              </a:rPr>
              <a:t>the current direction is the strongest possible direction</a:t>
            </a:r>
            <a:r>
              <a:rPr sz="1300" b="0" i="0">
                <a:solidFill>
                  <a:srgbClr val="454551"/>
                </a:solidFill>
                <a:latin typeface="Aptos"/>
              </a:rPr>
              <a:t> — and to replace it if it is not.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Everything in the existing workshop — positioning, technologies, trust architecture, layouts — is treated as a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hypothesis, not a decision.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1554480"/>
            <a:ext cx="4663440" cy="4572000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7373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SIX ASSUMPTIONS WE PUT ON TRIAL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194560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✕  </a:t>
            </a:r>
            <a:r>
              <a:rPr sz="1150" b="1" i="0">
                <a:solidFill>
                  <a:srgbClr val="57307F"/>
                </a:solidFill>
                <a:latin typeface="Aptos"/>
              </a:rPr>
              <a:t>The category needs another “safe” brand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     “Safe” is now table-stakes hygiene, not a difference.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843784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✕  </a:t>
            </a:r>
            <a:r>
              <a:rPr sz="1150" b="1" i="0">
                <a:solidFill>
                  <a:srgbClr val="57307F"/>
                </a:solidFill>
                <a:latin typeface="Aptos"/>
              </a:rPr>
              <a:t>NikoMom should be a “Baby Care Expert”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     Expertise talks down; parents want to feel capable.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493008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✕  </a:t>
            </a:r>
            <a:r>
              <a:rPr sz="1150" b="1" i="0">
                <a:solidFill>
                  <a:srgbClr val="57307F"/>
                </a:solidFill>
                <a:latin typeface="Aptos"/>
              </a:rPr>
              <a:t>Trust is the goal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     Trust is the entry ticket. Confidence is the prize.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142231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✕  </a:t>
            </a:r>
            <a:r>
              <a:rPr sz="1150" b="1" i="0">
                <a:solidFill>
                  <a:srgbClr val="57307F"/>
                </a:solidFill>
                <a:latin typeface="Aptos"/>
              </a:rPr>
              <a:t>Science is the differentiator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     Everyone claims science. Proven outcomes differentiate.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791455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✕  </a:t>
            </a:r>
            <a:r>
              <a:rPr sz="1150" b="1" i="0">
                <a:solidFill>
                  <a:srgbClr val="57307F"/>
                </a:solidFill>
                <a:latin typeface="Aptos"/>
              </a:rPr>
              <a:t>Four proprietary technologies add value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     They add cost and confusion for a young brand.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5440679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✕  </a:t>
            </a:r>
            <a:r>
              <a:rPr sz="1150" b="1" i="0">
                <a:solidFill>
                  <a:srgbClr val="57307F"/>
                </a:solidFill>
                <a:latin typeface="Aptos"/>
              </a:rPr>
              <a:t>The mother is the hero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     The baby's protected skin is the hero; the parent is the winner.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TWENTY-SEVEN POINTS OF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Brand Council in the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Every recommendation in this document was pressure-tested from three angles: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world-class brand craft, category-specific expertise, and the behavioural science of how parents actually buy.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40"/>
            <a:ext cx="3602736" cy="3977639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148840"/>
            <a:ext cx="3602736" cy="457200"/>
          </a:xfrm>
          <a:prstGeom prst="roundRect">
            <a:avLst>
              <a:gd name="adj" fmla="val 12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77440"/>
            <a:ext cx="3602736" cy="22860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12848"/>
            <a:ext cx="3291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BRAND &amp; DESIGN CRAFT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743200"/>
            <a:ext cx="3200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Pentagram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DesignStudio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Base Design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Jones Knowles Ritchie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Landor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Interbrand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Wolff Olins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Lippincott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IDEO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Apple Industrial Design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2148840"/>
            <a:ext cx="3602736" cy="3977639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24528" y="2148840"/>
            <a:ext cx="3602736" cy="457200"/>
          </a:xfrm>
          <a:prstGeom prst="roundRect">
            <a:avLst>
              <a:gd name="adj" fmla="val 12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2377440"/>
            <a:ext cx="3602736" cy="22860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7408" y="2212848"/>
            <a:ext cx="3291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CATEGORY &amp; SKIN EXPERTISE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743200"/>
            <a:ext cx="3200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P&amp;G Baby Care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Kimberly-Clark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Unilever Baby Care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Johnson's Baby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Mustela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Sebamed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CeraVe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Dove Baby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Pediatric Dermatologists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Packaging Engineers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2148840"/>
            <a:ext cx="3602736" cy="3977639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1856" y="2148840"/>
            <a:ext cx="3602736" cy="457200"/>
          </a:xfrm>
          <a:prstGeom prst="roundRect">
            <a:avLst>
              <a:gd name="adj" fmla="val 12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1856" y="2377440"/>
            <a:ext cx="3602736" cy="228600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4736" y="2212848"/>
            <a:ext cx="3291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COMMERCE &amp; BEHAVIOUR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2743200"/>
            <a:ext cx="3200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Consumer Psychologists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Behavioural Economists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Information Architects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Semiotics Experts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FMCG Growth Strategists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Retail Shelf Experts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•  Amazon Marketplace Specialists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recommendation, up front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554480"/>
            <a:ext cx="11274552" cy="1417320"/>
          </a:xfrm>
          <a:prstGeom prst="roundRect">
            <a:avLst>
              <a:gd name="adj" fmla="val 6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Aptos"/>
              </a:rPr>
              <a:t>Reposition NikoMom from “Baby Care Expert” to </a:t>
            </a:r>
            <a:r>
              <a:rPr sz="1600" b="1" i="0">
                <a:solidFill>
                  <a:srgbClr val="FFFFFF"/>
                </a:solidFill>
                <a:latin typeface="Aptos"/>
              </a:rPr>
              <a:t>India's Baby Skin-Barrier Company</a:t>
            </a:r>
            <a:r>
              <a:rPr sz="1600" b="0" i="0">
                <a:solidFill>
                  <a:srgbClr val="FFFFFF"/>
                </a:solidFill>
                <a:latin typeface="Aptos"/>
              </a:rPr>
              <a:t> — the pharma-backed brand that </a:t>
            </a:r>
            <a:r>
              <a:rPr sz="1600" b="1" i="0">
                <a:solidFill>
                  <a:srgbClr val="FFFFFF"/>
                </a:solidFill>
                <a:latin typeface="Aptos"/>
              </a:rPr>
              <a:t>protects and builds a baby's skin barrier, and turns anxious parents into confident ones through visible proof.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1">
                <a:solidFill>
                  <a:srgbClr val="E7D8F0"/>
                </a:solidFill>
                <a:latin typeface="Aptos"/>
              </a:rPr>
              <a:t>Emotional territory owned: CONFIDENCE, not reassurance.    Signature idea: “Protection, proven.”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0400"/>
            <a:ext cx="3602736" cy="2926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429000"/>
            <a:ext cx="457200" cy="82296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71E83"/>
                </a:solidFill>
                <a:latin typeface="Aptos Display"/>
              </a:rPr>
              <a:t>Why this wins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1480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Backed by Panacea Biotec's pharma credibility, it claims a moat that D2C 'natural' brands (Mamaearth) and legacy players (Johnson's) cannot copy.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3200400"/>
            <a:ext cx="3602736" cy="2926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3128" y="3429000"/>
            <a:ext cx="457200" cy="82296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36118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775E7"/>
                </a:solidFill>
                <a:latin typeface="Aptos Display"/>
              </a:rPr>
              <a:t>What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411480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One master technology (BarrierNest™) replaces four '-Nests'. Outcome &amp; proof lead the pack, not 'safe/toxin-free'. Keep the name — replace what it means.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3200400"/>
            <a:ext cx="3602736" cy="2926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6" y="3429000"/>
            <a:ext cx="457200" cy="82296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361188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6B9F25"/>
                </a:solidFill>
                <a:latin typeface="Aptos Display"/>
              </a:rPr>
              <a:t>What it unlocks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411480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A system — skin, bath, wipes, diapers today; first-1000-days healthcare, nutrition, subscriptions and community tomorrow — all under one science spine.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READING THIS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This is Workshop 1 — it constrains everything after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The workshop system is cumulative by design. Workshop 1 answers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“what kind of brand world?”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— every downstream decision on claims, technology, packaging and portfolio is constrained by the direction locked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2157984" cy="1645920"/>
          </a:xfrm>
          <a:prstGeom prst="roundRect">
            <a:avLst>
              <a:gd name="adj" fmla="val 6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63240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ptos Display"/>
              </a:rPr>
              <a:t>Understand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29000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0E6F6"/>
                </a:solidFill>
                <a:latin typeface="Aptos"/>
              </a:rPr>
              <a:t>Category &amp; white 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128016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 i="0">
                <a:solidFill>
                  <a:srgbClr val="D71E83"/>
                </a:solidFill>
                <a:latin typeface="Aptos"/>
              </a:rPr>
              <a:t>YOU ARE 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2377440"/>
            <a:ext cx="2157984" cy="164592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6936" y="2542032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8D9DC"/>
                </a:solidFill>
                <a:latin typeface="Aptos Display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936" y="3063240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54551"/>
                </a:solidFill>
                <a:latin typeface="Aptos Display"/>
              </a:rPr>
              <a:t>Define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429000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Aptos"/>
              </a:rPr>
              <a:t>Product truth on pack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912" y="2377440"/>
            <a:ext cx="2157984" cy="164592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542032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8D9DC"/>
                </a:solidFill>
                <a:latin typeface="Aptos Display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3063240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54551"/>
                </a:solidFill>
                <a:latin typeface="Aptos Display"/>
              </a:rPr>
              <a:t>Meaning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429000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Aptos"/>
              </a:rPr>
              <a:t>Purpose &amp; voice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87767" y="2377440"/>
            <a:ext cx="2157984" cy="164592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70647" y="2542032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8D9DC"/>
                </a:solidFill>
                <a:latin typeface="Aptos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7" y="3063240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54551"/>
                </a:solidFill>
                <a:latin typeface="Aptos Display"/>
              </a:rPr>
              <a:t>Translate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0647" y="3429000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Aptos"/>
              </a:rPr>
              <a:t>Visual &amp; pack system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64624" y="2377440"/>
            <a:ext cx="2157984" cy="164592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7503" y="2542032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8D9DC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7503" y="3063240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454551"/>
                </a:solidFill>
                <a:latin typeface="Aptos Display"/>
              </a:rPr>
              <a:t>Finalise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7503" y="3429000"/>
            <a:ext cx="17922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Aptos"/>
              </a:rPr>
              <a:t>System sign-off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343400"/>
            <a:ext cx="11247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SEVEN DECISIONS THIS DOCUMENT LOCKS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7091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57307F"/>
                </a:solidFill>
                <a:latin typeface="Aptos"/>
              </a:rPr>
              <a:t>Category white space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66543" y="47091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57307F"/>
                </a:solidFill>
                <a:latin typeface="Aptos"/>
              </a:rPr>
              <a:t>Strategic territory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5887" y="47091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57307F"/>
                </a:solidFill>
                <a:latin typeface="Aptos"/>
              </a:rPr>
              <a:t>Packaging world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85231" y="47091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57307F"/>
                </a:solidFill>
                <a:latin typeface="Aptos"/>
              </a:rPr>
              <a:t>Brand-element shortlist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94575" y="47091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57307F"/>
                </a:solidFill>
                <a:latin typeface="Aptos"/>
              </a:rPr>
              <a:t>Naming philosophy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19" y="47091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57307F"/>
                </a:solidFill>
                <a:latin typeface="Aptos"/>
              </a:rPr>
              <a:t>Technology architecture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13263" y="47091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i="0">
                <a:solidFill>
                  <a:srgbClr val="57307F"/>
                </a:solidFill>
                <a:latin typeface="Aptos"/>
              </a:rPr>
              <a:t>Information hierarchy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"/>
              </a:rPr>
              <a:t>Structure: </a:t>
            </a:r>
            <a:r>
              <a:rPr sz="1200" b="0" i="0">
                <a:solidFill>
                  <a:srgbClr val="454551"/>
                </a:solidFill>
                <a:latin typeface="Aptos"/>
              </a:rPr>
              <a:t>(1) Category white space  ·  (2) Strategic territories  ·  (3) Packaging worlds  ·  (4) Brand-element selection  ·  (5) Naming  ·  (6) Decision matrix  ·  (7) Final recommendation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703320"/>
            <a:ext cx="1280160" cy="914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ptos Display"/>
              </a:rPr>
              <a:t>Category White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E7DDF0"/>
                </a:solidFill>
                <a:latin typeface="Aptos"/>
              </a:rPr>
              <a:t>Redefining the opportunity from unmet human needs — not from what competitors already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1 · CATEGORY 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category is drowning in the same word: “safe”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Scan any Indian baby-care shelf or Amazon page and the codes collapse into one message. When everyone says the same thing, the word stops selling.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4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48840"/>
            <a:ext cx="82296" cy="1234440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26771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Johnson's Baby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517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8C8C8C"/>
                </a:solidFill>
                <a:latin typeface="Aptos"/>
              </a:rPr>
              <a:t>Owns: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Legacy trust, softness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D71E83"/>
                </a:solidFill>
                <a:latin typeface="Aptos"/>
              </a:rPr>
              <a:t>Gap: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Talc controversy; dated science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214884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24528" y="2148840"/>
            <a:ext cx="82296" cy="123444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226771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Mamaearth / The Moms 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26517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8C8C8C"/>
                </a:solidFill>
                <a:latin typeface="Aptos"/>
              </a:rPr>
              <a:t>Owns: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“Toxin-free”, natural, D2C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2971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D71E83"/>
                </a:solidFill>
                <a:latin typeface="Aptos"/>
              </a:rPr>
              <a:t>Gap: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Marketing-led; thin real science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214884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1856" y="2148840"/>
            <a:ext cx="82296" cy="123444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226771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Himalaya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0456" y="26517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8C8C8C"/>
                </a:solidFill>
                <a:latin typeface="Aptos"/>
              </a:rPr>
              <a:t>Owns: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Herbal / Ayurvedic heritage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456" y="2971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D71E83"/>
                </a:solidFill>
                <a:latin typeface="Aptos"/>
              </a:rPr>
              <a:t>Gap: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Mass, low premium ceiling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661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66160"/>
            <a:ext cx="82296" cy="1234440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68503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Sebamed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06908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8C8C8C"/>
                </a:solidFill>
                <a:latin typeface="Aptos"/>
              </a:rPr>
              <a:t>Owns: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pH 5.5 clinical authority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38912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D71E83"/>
                </a:solidFill>
                <a:latin typeface="Aptos"/>
              </a:rPr>
              <a:t>Gap: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Cold; low emotional warmth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35661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3566160"/>
            <a:ext cx="82296" cy="1234440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53128" y="368503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Cetaphil / CeraVe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3128" y="406908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8C8C8C"/>
                </a:solidFill>
                <a:latin typeface="Aptos"/>
              </a:rPr>
              <a:t>Owns: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Dermatologist, barrier science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8" y="438912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D71E83"/>
                </a:solidFill>
                <a:latin typeface="Aptos"/>
              </a:rPr>
              <a:t>Gap: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Adult-first; not baby-owned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91856" y="35661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91856" y="3566160"/>
            <a:ext cx="82296" cy="1234440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0456" y="3685032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Mustela / Chicco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406908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8C8C8C"/>
                </a:solidFill>
                <a:latin typeface="Aptos"/>
              </a:rPr>
              <a:t>Owns: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Premium French / Italian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38912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D71E83"/>
                </a:solidFill>
                <a:latin typeface="Aptos"/>
              </a:rPr>
              <a:t>Gap: </a:t>
            </a:r>
            <a:r>
              <a:rPr sz="1000" b="0" i="0">
                <a:solidFill>
                  <a:srgbClr val="454551"/>
                </a:solidFill>
                <a:latin typeface="Aptos"/>
              </a:rPr>
              <a:t>Price; low India relevance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2120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THE PATTERN  </a:t>
            </a:r>
            <a:r>
              <a:rPr sz="1200" b="0" i="0">
                <a:solidFill>
                  <a:srgbClr val="454551"/>
                </a:solidFill>
                <a:latin typeface="Aptos"/>
              </a:rPr>
              <a:t>Natural, gentle, pH-balanced, toxin-free, dermatologically tested. Six brands, one vocabulary.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Nobody owns the baby's skin barrier as a science platform built for Indian conditions.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1 · CATEGORY 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First-principle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We asked the uncomfortable questions before proposing anything.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40"/>
            <a:ext cx="5486400" cy="1170432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276856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Q  </a:t>
            </a:r>
            <a:r>
              <a:rPr sz="1200" b="1" i="0">
                <a:solidFill>
                  <a:srgbClr val="57307F"/>
                </a:solidFill>
                <a:latin typeface="Aptos Display"/>
              </a:rPr>
              <a:t>Does the category need another “safe” brand?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07208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→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No. Safety is expected. Differentiation must come from proof and outcome.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2148840"/>
            <a:ext cx="5486400" cy="117043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2276856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Q  </a:t>
            </a:r>
            <a:r>
              <a:rPr sz="1200" b="1" i="0">
                <a:solidFill>
                  <a:srgbClr val="57307F"/>
                </a:solidFill>
                <a:latin typeface="Aptos Display"/>
              </a:rPr>
              <a:t>Should the hero be the parent, baby, routine or outcome?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807208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→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The outcome (protected, healthy skin). The parent is the winner, not the subject.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47288"/>
            <a:ext cx="5486400" cy="1170432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575304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Q  </a:t>
            </a:r>
            <a:r>
              <a:rPr sz="1200" b="1" i="0">
                <a:solidFill>
                  <a:srgbClr val="57307F"/>
                </a:solidFill>
                <a:latin typeface="Aptos Display"/>
              </a:rPr>
              <a:t>Is “trust” enough?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05656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→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Trust gets you considered. Confidence — “I know I'm doing it right” — gets you chosen and repeated.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3447288"/>
            <a:ext cx="5486400" cy="117043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3575304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Q  </a:t>
            </a:r>
            <a:r>
              <a:rPr sz="1200" b="1" i="0">
                <a:solidFill>
                  <a:srgbClr val="57307F"/>
                </a:solidFill>
                <a:latin typeface="Aptos Display"/>
              </a:rPr>
              <a:t>Does science create differentiation, or does confidence?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4105656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→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Science is the reason to believe. Confidence is the reason to buy. We sell confidence, proven by science.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745736"/>
            <a:ext cx="5486400" cy="1170432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873751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Q  </a:t>
            </a:r>
            <a:r>
              <a:rPr sz="1200" b="1" i="0">
                <a:solidFill>
                  <a:srgbClr val="57307F"/>
                </a:solidFill>
                <a:latin typeface="Aptos Display"/>
              </a:rPr>
              <a:t>Is “gentle / toxin-free” ownable?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04103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→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No — legally claimable by all, owned by none. A barrier-science platform is ownable.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9904" y="4745736"/>
            <a:ext cx="5486400" cy="117043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4873751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Q  </a:t>
            </a:r>
            <a:r>
              <a:rPr sz="1200" b="1" i="0">
                <a:solidFill>
                  <a:srgbClr val="57307F"/>
                </a:solidFill>
                <a:latin typeface="Aptos Display"/>
              </a:rPr>
              <a:t>What mental shortcut is the parent searching for?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404103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→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“Which brand actually understands my baby's skin — not just markets to me?”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1 · CATEGORY 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real unmet need: anxiety, not dirt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Indian parents — especially first-time, urban, digitally-informed — are not short of “safe products.” They are short of </a:t>
            </a:r>
            <a:r>
              <a:rPr sz="1200" b="1" i="0">
                <a:solidFill>
                  <a:srgbClr val="D71E83"/>
                </a:solidFill>
                <a:latin typeface="Aptos"/>
              </a:rPr>
              <a:t>confidence.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They are anxious, over-Googled, guilt-prone, and unsure whether they are protecting their baby correctly.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688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517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C8C8C"/>
                </a:solidFill>
                <a:latin typeface="Aptos"/>
              </a:rPr>
              <a:t>WHAT THE CATEGORY SELLS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49377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454551"/>
                </a:solidFill>
                <a:latin typeface="Aptos"/>
              </a:rPr>
              <a:t>–  “Gentle &amp; safe” — removes a fear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454551"/>
                </a:solidFill>
                <a:latin typeface="Aptos"/>
              </a:rPr>
              <a:t>–  Products, bought one at a 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454551"/>
                </a:solidFill>
                <a:latin typeface="Aptos"/>
              </a:rPr>
              <a:t>–  Reassurance: “don't worry”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454551"/>
                </a:solidFill>
                <a:latin typeface="Aptos"/>
              </a:rPr>
              <a:t>–  The mother's love as the proof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454551"/>
                </a:solidFill>
                <a:latin typeface="Aptos"/>
              </a:rPr>
              <a:t>–  Ingredients lists as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4688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6517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WHAT THE PARENT ACTUALLY WANTS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063240"/>
            <a:ext cx="49377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57307F"/>
                </a:solidFill>
                <a:latin typeface="Aptos"/>
              </a:rPr>
              <a:t>+  “Am I doing this right?” answered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57307F"/>
                </a:solidFill>
                <a:latin typeface="Aptos"/>
              </a:rPr>
              <a:t>+  A system that guides the whole routine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57307F"/>
                </a:solidFill>
                <a:latin typeface="Aptos"/>
              </a:rPr>
              <a:t>+  Confidence: “you've got this — here's proof”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57307F"/>
                </a:solidFill>
                <a:latin typeface="Aptos"/>
              </a:rPr>
              <a:t>+  The baby's visible outcome as the proof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57307F"/>
                </a:solidFill>
                <a:latin typeface="Aptos"/>
              </a:rPr>
              <a:t>+  Seeing the result on their own baby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1 · CATEGORY 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white space we will 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554480"/>
            <a:ext cx="11274552" cy="1371600"/>
          </a:xfrm>
          <a:prstGeom prst="roundRect">
            <a:avLst>
              <a:gd name="adj" fmla="val 6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55648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The Baby Skin-Barrier Company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BDDF3"/>
                </a:solidFill>
                <a:latin typeface="Aptos"/>
              </a:rPr>
              <a:t>The skin barrier is a baby's first line of defence — its first immune system. We are the pharma-backed brand that protects and builds it, and proves it. </a:t>
            </a:r>
            <a:r>
              <a:rPr sz="1300" b="1" i="0">
                <a:solidFill>
                  <a:srgbClr val="FFFFFF"/>
                </a:solidFill>
                <a:latin typeface="Aptos"/>
              </a:rPr>
              <a:t>Protection, proven.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2706624" cy="297180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310128"/>
            <a:ext cx="457200" cy="73152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4747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D71E83"/>
                </a:solidFill>
                <a:latin typeface="Aptos Display"/>
              </a:rPr>
              <a:t>Unmet need it solves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114800"/>
            <a:ext cx="2331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Parental anxiety — the fear of getting it wrong. We convert it into earned confidence.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82696" y="3108960"/>
            <a:ext cx="2706624" cy="297180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83864" y="3310128"/>
            <a:ext cx="457200" cy="73152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83864" y="34747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775E7"/>
                </a:solidFill>
                <a:latin typeface="Aptos Display"/>
              </a:rPr>
              <a:t>Emotion it owns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4114800"/>
            <a:ext cx="2331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Confidence &amp; control, not soft reassurance. Calm competence.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3108960"/>
            <a:ext cx="2706624" cy="297180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310128"/>
            <a:ext cx="457200" cy="73152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59" y="34747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6B9F25"/>
                </a:solidFill>
                <a:latin typeface="Aptos Display"/>
              </a:rPr>
              <a:t>Why it can't be copied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59" y="4114800"/>
            <a:ext cx="2331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Requires real pharma R&amp;D + India-specific barrier data. D2C 'natural' and legacy brands lack both.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33688" y="3108960"/>
            <a:ext cx="2706624" cy="297180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34856" y="3310128"/>
            <a:ext cx="457200" cy="73152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34856" y="347472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79631"/>
                </a:solidFill>
                <a:latin typeface="Aptos Display"/>
              </a:rPr>
              <a:t>The mental shortcut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114800"/>
            <a:ext cx="2331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“The science company for my baby's skin.” One idea, instantly filed.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44768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71E83"/>
                </a:solidFill>
                <a:latin typeface="Aptos"/>
              </a:rPr>
              <a:t>Not a leap — a sharpening.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“Protecting the skin barrier” already sits inside your current brand foundation — buried as one bullet among five. We make it the spine.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1 · CATEGORY WHITE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Baby care in 2035 — and the category NikoMom can 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The product is the entry point, not the endgame. The winning brands of 2035 will be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connected preventive-health systems for the first 1000 days,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not shelves of bottles.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4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48840"/>
            <a:ext cx="3611880" cy="82296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487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From products → to a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10896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A connected routine, not disconnected SKUs.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214884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2148840"/>
            <a:ext cx="3611880" cy="82296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3128" y="240487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From reactive → to preventive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310896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Protect the barrier before rash, dryness, infection.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214884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1856" y="2148840"/>
            <a:ext cx="3611880" cy="82296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240487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From generic → to India-specific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10896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Built for Indian climate, water, pollution, skin.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23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023360"/>
            <a:ext cx="3611880" cy="82296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7939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From selling → to guiding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9834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A daily companion (WhatsApp/app) that coaches parents.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8" y="4023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4023360"/>
            <a:ext cx="3611880" cy="82296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3128" y="427939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From skin → to wellbeing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49834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Skin, sleep, nutrition, development — one platform.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4023360"/>
            <a:ext cx="3611880" cy="169164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91856" y="4023360"/>
            <a:ext cx="3611880" cy="82296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427939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From transaction → to subscription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49834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Refills, growth-stage kits, membership, community.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THE CATEGORY TO CREATE  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“Baby Skin-Barrier Protection” — preventive, science-led, made for India, delivered as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703320"/>
            <a:ext cx="1280160" cy="914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ptos Display"/>
              </a:rPr>
              <a:t>Strategic Territories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E7DDF0"/>
                </a:solidFill>
                <a:latin typeface="Aptos"/>
              </a:rPr>
              <a:t>Ten radically different brand worlds. Each solves a human need, owns an emotion, and resists copying.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2 · STRATEGIC TERRITORIES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Ten territories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103120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BEAF3"/>
          </a:solidFill>
          <a:ln w="12700">
            <a:solidFill>
              <a:srgbClr val="D71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311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D71E83"/>
                </a:solidFill>
                <a:latin typeface="Aptos Display"/>
              </a:rPr>
              <a:t>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2249424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Aptos"/>
              </a:rPr>
              <a:t>SHORTLIST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0603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Skin-Barrier Company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004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The barrier = first defence. Own barrier science.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2103120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BEAF3"/>
          </a:solidFill>
          <a:ln w="12700">
            <a:solidFill>
              <a:srgbClr val="4775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22311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775E7"/>
                </a:solidFill>
                <a:latin typeface="Aptos Display"/>
              </a:rP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2249424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Aptos"/>
              </a:rPr>
              <a:t>SHORTLIST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260603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Protection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2004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Invisible, always-on, adaptive protection.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7760" y="2103120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BEAF3"/>
          </a:solidFill>
          <a:ln w="12700">
            <a:solidFill>
              <a:srgbClr val="897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2352" y="22311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8971E1"/>
                </a:solidFill>
                <a:latin typeface="Aptos Display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249424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Aptos"/>
              </a:rPr>
              <a:t>SHORTLIST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260603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First 1000 Days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2004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Own the early-development window end to 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103120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BEAF3"/>
          </a:solidFill>
          <a:ln w="12700">
            <a:solidFill>
              <a:srgbClr val="F796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42632" y="22311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79631"/>
                </a:solidFill>
                <a:latin typeface="Aptos Display"/>
              </a:rPr>
              <a:t>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2249424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Aptos"/>
              </a:rPr>
              <a:t>SHORTLIST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260603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Indian Baby Science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2" y="32004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Built for Indian climate, water, pollution, skin.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18320" y="2103120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912" y="22311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6B9F25"/>
                </a:solidFill>
                <a:latin typeface="Aptos Display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2" y="260603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Parent-Confidence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2" y="32004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Sell confidence &amp; competence, not products.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069079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4197095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EA6DC"/>
                </a:solidFill>
                <a:latin typeface="Aptos Display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57199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Daily Rituals / Calm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16635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Turn routines into calm, bonding rituals.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4069079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62072" y="4197095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D71E83"/>
                </a:solidFill>
                <a:latin typeface="Aptos Display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62072" y="457199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Preventive Baby Care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62072" y="516635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Prevention over treatment; pharma-grade.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0" y="4069079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4197095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7307F"/>
                </a:solidFill>
                <a:latin typeface="Aptos Display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2352" y="457199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Invisible Care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02352" y="516635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Care that disappears — no fear-marketing.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78040" y="4069079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42632" y="4197095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4775E7"/>
                </a:solidFill>
                <a:latin typeface="Aptos Display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42632" y="457199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Pediatric-Grade at Home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2632" y="516635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Hospital-grade standards for the home.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18320" y="4069079"/>
            <a:ext cx="2121408" cy="1783080"/>
          </a:xfrm>
          <a:prstGeom prst="roundRect">
            <a:avLst>
              <a:gd name="adj" fmla="val 9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82912" y="4197095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6B9F25"/>
                </a:solidFill>
                <a:latin typeface="Aptos Display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82912" y="457199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Baby Skin Intelligence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82912" y="5166359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454551"/>
                </a:solidFill>
                <a:latin typeface="Aptos"/>
              </a:rPr>
              <a:t>Data + product that adapts as baby grows.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8C8C8C"/>
                </a:solidFill>
                <a:latin typeface="Aptos"/>
              </a:rPr>
              <a:t>Four carried into the decision matrix (highlighted). The rest were rejected early — reasons on the matrix and rejection slides.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2 · STRATEGIC TERRITORIES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Territories in depth — the front-runners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5486400" cy="3200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66420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01   Skin-Barrier Company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37744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D71E83"/>
                </a:solidFill>
                <a:latin typeface="Aptos"/>
              </a:rPr>
              <a:t>WHY IT EXISTS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The skin barrier is a baby's first immune system; no brand owns it as a platform.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0896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D71E83"/>
                </a:solidFill>
                <a:latin typeface="Aptos"/>
              </a:rPr>
              <a:t>HUMAN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Protect my baby from the outside world — rash, dryness, infection, irritation.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4048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D71E83"/>
                </a:solidFill>
                <a:latin typeface="Aptos"/>
              </a:rPr>
              <a:t>EMOTION OWNED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Confidence through protection. Calm competence.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57200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D71E83"/>
                </a:solidFill>
                <a:latin typeface="Aptos"/>
              </a:rPr>
              <a:t>WHY HARD TO COPY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Needs genuine pharma R&amp;D + India barrier data. Natural/legacy brands lack the credibility.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D71E83"/>
                </a:solidFill>
                <a:latin typeface="Aptos"/>
              </a:rPr>
              <a:t>HOW IT SCALES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Every SKU is a barrier act: cleanse, protect, repair, seal — skin, bath, diaper, wipes.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45352" y="1554480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1874519"/>
            <a:ext cx="5486400" cy="320040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66420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02   Protection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37744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775E7"/>
                </a:solidFill>
                <a:latin typeface="Aptos"/>
              </a:rPr>
              <a:t>WHY IT EXISTS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Reframe care as an intelligent, invisible, always-on protection system.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10896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775E7"/>
                </a:solidFill>
                <a:latin typeface="Aptos"/>
              </a:rPr>
              <a:t>HUMAN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I want protection I don't have to think about — that adapts to my baby.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4048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775E7"/>
                </a:solidFill>
                <a:latin typeface="Aptos"/>
              </a:rPr>
              <a:t>EMOTION OWNED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Control and modern confidence. Tech-grade reassurance.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775E7"/>
                </a:solidFill>
                <a:latin typeface="Aptos"/>
              </a:rPr>
              <a:t>WHY HARD TO COPY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Fuses science + design + data language few FMCG brands can hold credibly.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0352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775E7"/>
                </a:solidFill>
                <a:latin typeface="Aptos"/>
              </a:rPr>
              <a:t>HOW IT SCALES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Scales from packs to app, sensors, subscriptions, personalised routines.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2 · STRATEGIC TERRITORIES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Territories in depth — the front-runners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5486400" cy="320040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66420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03   First 1000 Days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37744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8971E1"/>
                </a:solidFill>
                <a:latin typeface="Aptos"/>
              </a:rPr>
              <a:t>WHY IT EXISTS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The 1000-day window (conception–age 2) is the most consequential in human development.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0896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8971E1"/>
                </a:solidFill>
                <a:latin typeface="Aptos"/>
              </a:rPr>
              <a:t>HUMAN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Give my baby the best possible start — across skin, sleep, nutrition, growth.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84048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8971E1"/>
                </a:solidFill>
                <a:latin typeface="Aptos"/>
              </a:rPr>
              <a:t>EMOTION OWNED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Purpose and hope. Long-horizon parental love.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57200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8971E1"/>
                </a:solidFill>
                <a:latin typeface="Aptos"/>
              </a:rPr>
              <a:t>WHY HARD TO COPY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Panacea's healthcare + nutrition breadth lets it own a window pure-play cosmetics can't.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8971E1"/>
                </a:solidFill>
                <a:latin typeface="Aptos"/>
              </a:rPr>
              <a:t>HOW IT SCALES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Broadest runway: skin → nutrition → healthcare → community → digital tracking.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45352" y="1554480"/>
            <a:ext cx="5486400" cy="640080"/>
          </a:xfrm>
          <a:prstGeom prst="roundRect">
            <a:avLst>
              <a:gd name="adj" fmla="val 6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1874519"/>
            <a:ext cx="5486400" cy="320040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66420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04   Indian Baby Science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37744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79631"/>
                </a:solidFill>
                <a:latin typeface="Aptos"/>
              </a:rPr>
              <a:t>WHY IT EXISTS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Global formulas ignore Indian heat, humidity, hard water, pollution and skin tones.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10896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79631"/>
                </a:solidFill>
                <a:latin typeface="Aptos"/>
              </a:rPr>
              <a:t>HUMAN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Give me care actually built for my baby's real environment, not a foreign 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4048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79631"/>
                </a:solidFill>
                <a:latin typeface="Aptos"/>
              </a:rPr>
              <a:t>EMOTION OWNED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Pride and relevance. “Finally, made for us.”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79631"/>
                </a:solidFill>
                <a:latin typeface="Aptos"/>
              </a:rPr>
              <a:t>WHY HARD TO COPY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Deep local R&amp;D + Panacea's Indian scale; imports and D2C can't match the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03520"/>
            <a:ext cx="5029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79631"/>
                </a:solidFill>
                <a:latin typeface="Aptos"/>
              </a:rPr>
              <a:t>HOW IT SCALES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A lens over every product and claim; powerful in India, exportable to similar climates.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2 · STRATEGIC TERRITORIES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Why these four — and how they combine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The four front-runners are not rivals — they nest. </a:t>
            </a:r>
            <a:r>
              <a:rPr sz="1200" b="1" i="0">
                <a:solidFill>
                  <a:srgbClr val="D71E83"/>
                </a:solidFill>
                <a:latin typeface="Aptos"/>
              </a:rPr>
              <a:t>Skin-Barrier Science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is the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what</a:t>
            </a:r>
            <a:r>
              <a:rPr sz="1200" b="0" i="0">
                <a:solidFill>
                  <a:srgbClr val="454551"/>
                </a:solidFill>
                <a:latin typeface="Aptos"/>
              </a:rPr>
              <a:t>;  </a:t>
            </a:r>
            <a:r>
              <a:rPr sz="1200" b="1" i="0">
                <a:solidFill>
                  <a:srgbClr val="4775E7"/>
                </a:solidFill>
                <a:latin typeface="Aptos"/>
              </a:rPr>
              <a:t>Protection Intelligence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is the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how it feels</a:t>
            </a:r>
            <a:r>
              <a:rPr sz="1200" b="0" i="0">
                <a:solidFill>
                  <a:srgbClr val="454551"/>
                </a:solidFill>
                <a:latin typeface="Aptos"/>
              </a:rPr>
              <a:t>;  </a:t>
            </a:r>
            <a:r>
              <a:rPr sz="1200" b="1" i="0">
                <a:solidFill>
                  <a:srgbClr val="F79631"/>
                </a:solidFill>
                <a:latin typeface="Aptos"/>
              </a:rPr>
              <a:t>Indian Baby Science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is the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proof of relevance</a:t>
            </a:r>
            <a:r>
              <a:rPr sz="1200" b="0" i="0">
                <a:solidFill>
                  <a:srgbClr val="454551"/>
                </a:solidFill>
                <a:latin typeface="Aptos"/>
              </a:rPr>
              <a:t>;  </a:t>
            </a:r>
            <a:r>
              <a:rPr sz="1200" b="1" i="0">
                <a:solidFill>
                  <a:srgbClr val="8971E1"/>
                </a:solidFill>
                <a:latin typeface="Aptos"/>
              </a:rPr>
              <a:t>First 1000 Days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is the </a:t>
            </a:r>
            <a:r>
              <a:rPr sz="1200" b="1" i="0">
                <a:solidFill>
                  <a:srgbClr val="57307F"/>
                </a:solidFill>
                <a:latin typeface="Aptos"/>
              </a:rPr>
              <a:t>growth runway.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11274552" cy="1234440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420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D71E83"/>
                </a:solidFill>
                <a:latin typeface="Aptos"/>
              </a:rPr>
              <a:t>THE SYNTHESIS   </a:t>
            </a:r>
            <a:r>
              <a:rPr sz="1500" b="1" i="0">
                <a:solidFill>
                  <a:srgbClr val="57307F"/>
                </a:solidFill>
                <a:latin typeface="Aptos Display"/>
              </a:rPr>
              <a:t>“The Baby Skin-Barrier Company — protection intelligence, built for India, for the first 1000 days.”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A defensible core (barrier science) with a broad runway (the 1000-day system) and a credible moat (Indian data + Panacea pharma).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C8C8C"/>
                </a:solidFill>
                <a:latin typeface="Aptos"/>
              </a:rPr>
              <a:t>CARRIED AS INGREDIENTS, NOT AS THE 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22452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"/>
              </a:rPr>
              <a:t>Parent-Confidence Platform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— Right emotion, but it's an outcome of barrier science — folded in, not a separate territory.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9904" y="41148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422452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"/>
              </a:rPr>
              <a:t>Daily Rituals / Calm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— Warm but soft; loses the science moat that only Panacea can 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292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3892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"/>
              </a:rPr>
              <a:t>Invisible Care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— Elegant, but too quiet for shelf/Amazon shout-through in a value-conscious market.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9904" y="50292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513892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"/>
              </a:rPr>
              <a:t>Pediatric-Grade at Home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— Strong RTB, weak as a whole-brand idea; becomes a proof pillar instead.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703320"/>
            <a:ext cx="1280160" cy="914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ptos Display"/>
              </a:rPr>
              <a:t>Packaging Worlds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E7DDF0"/>
                </a:solidFill>
                <a:latin typeface="Aptos"/>
              </a:rPr>
              <a:t>Ten visual worlds. We define what the parent should feel and understand — not labels.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3 · PACKAGING 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Ten packaging worlds — what should the parent feel?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103120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03120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31720"/>
            <a:ext cx="2121408" cy="228600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157984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Clinical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65176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4EA6DC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Trust via rigour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154679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4EA6DC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White, data, proof 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2103120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97480" y="2103120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97480" y="2331720"/>
            <a:ext cx="2121408" cy="228600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2157984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Warm Care Authority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65176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79631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Reassured, 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154679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79631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Soft warmth, human touch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2103120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937760" y="2103120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37760" y="2331720"/>
            <a:ext cx="2121408" cy="228600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2157984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Premium Modern Wellness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65176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971E1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Aspirational calm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3154679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971E1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Skincare-grade minimalism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103120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78040" y="2103120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78040" y="2331720"/>
            <a:ext cx="2121408" cy="228600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57984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Japanese Minimal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65176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454551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Quiet competence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3154679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454551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Reductive, honest, muji-like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18320" y="2103120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18320" y="2103120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20" y="2331720"/>
            <a:ext cx="2121408" cy="2286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55480" y="2157984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Scandinavian Soft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55480" y="265176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B9F25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Gentle &amp; human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3154679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B9F25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Calm pastels, rounded, airy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069079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 w="12700">
            <a:solidFill>
              <a:srgbClr val="4775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7200" y="4069079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297679"/>
            <a:ext cx="2121408" cy="228600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4123943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Protection Intelligence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4617719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4775E7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In control, modern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120640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4775E7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Structural, tech-grade, Apple-like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" y="5550407"/>
            <a:ext cx="1188720" cy="237744"/>
          </a:xfrm>
          <a:prstGeom prst="roundRect">
            <a:avLst>
              <a:gd name="adj" fmla="val 50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Aptos"/>
              </a:rPr>
              <a:t>FRONT-RUNNER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97480" y="4069079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697480" y="4069079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97480" y="4297679"/>
            <a:ext cx="2121408" cy="22860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4640" y="4123943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Editorial / Knowledge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34640" y="4617719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7307F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Informed, respected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34640" y="5120640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7307F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Magazine, education-led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0" y="4069079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 w="12700">
            <a:solidFill>
              <a:srgbClr val="D71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937760" y="4069079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37760" y="4297679"/>
            <a:ext cx="2121408" cy="22860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74920" y="4123943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Pharma-Consumer Hybrid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74920" y="4617719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D71E83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Credible &amp; accessible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5120640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D71E83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Rx cues + human warmth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394960" y="5550407"/>
            <a:ext cx="1188720" cy="237744"/>
          </a:xfrm>
          <a:prstGeom prst="roundRect">
            <a:avLst>
              <a:gd name="adj" fmla="val 50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Aptos"/>
              </a:rPr>
              <a:t>FRONT-RUNNER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78040" y="4069079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78040" y="4069079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78040" y="4297679"/>
            <a:ext cx="2121408" cy="228600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0" y="4123943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Playful Developmental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4617719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79631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Optimistic, guided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0" y="5120640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79631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Growth-stage colour coding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418320" y="4069079"/>
            <a:ext cx="2121408" cy="181051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418320" y="4069079"/>
            <a:ext cx="2121408" cy="457200"/>
          </a:xfrm>
          <a:prstGeom prst="roundRect">
            <a:avLst>
              <a:gd name="adj" fmla="val 10000"/>
            </a:avLst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20" y="4297679"/>
            <a:ext cx="2121408" cy="228600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55480" y="4123943"/>
            <a:ext cx="187451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Aptos Display"/>
              </a:rPr>
              <a:t>Luxury Derm-Skincare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55480" y="4617719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971E1"/>
                </a:solidFill>
                <a:latin typeface="Aptos"/>
              </a:rPr>
              <a:t>Feel: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Premium, precious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55480" y="5120640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971E1"/>
                </a:solidFill>
                <a:latin typeface="Aptos"/>
              </a:rPr>
              <a:t>Cue: </a:t>
            </a:r>
            <a:r>
              <a:rPr sz="900" b="0" i="0">
                <a:solidFill>
                  <a:srgbClr val="454551"/>
                </a:solidFill>
                <a:latin typeface="Aptos"/>
              </a:rPr>
              <a:t>Prestige, restraint, tactile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Aptos"/>
              </a:rPr>
              <a:t>The winning direction fuses the two front-runners into </a:t>
            </a:r>
            <a:r>
              <a:rPr sz="1050" b="1" i="0">
                <a:solidFill>
                  <a:srgbClr val="57307F"/>
                </a:solidFill>
                <a:latin typeface="Aptos"/>
              </a:rPr>
              <a:t>“Clinical Warmth” — pharma credibility with human calm.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3 · PACKAGING 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Six worlds, six commercial verdicts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11274552" cy="41148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WORLD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1673352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EMOTION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73352"/>
            <a:ext cx="3383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RETAIL / AMAZON 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1673352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67335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1673352"/>
            <a:ext cx="2148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ptos"/>
              </a:rPr>
              <a:t>VERDICT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11680"/>
            <a:ext cx="1127455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011680"/>
            <a:ext cx="73152" cy="658368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066544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Clinical Science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2066544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Trust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066544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Screams credibility on thumbnails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19" y="206654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06654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Mid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066544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8C8C8C"/>
                </a:solidFill>
                <a:latin typeface="Aptos"/>
              </a:rPr>
              <a:t>Cold alone — needs warmth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688336"/>
            <a:ext cx="11274552" cy="658368"/>
          </a:xfrm>
          <a:prstGeom prst="rect">
            <a:avLst/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688336"/>
            <a:ext cx="73152" cy="658368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743200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Warm Care Authority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2743200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Comfort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2743200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Blends in; low shelf shout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19" y="27432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High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2743200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74320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8C8C8C"/>
                </a:solidFill>
                <a:latin typeface="Aptos"/>
              </a:rPr>
              <a:t>Too close to Johnson's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364992"/>
            <a:ext cx="1127455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364992"/>
            <a:ext cx="73152" cy="658368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419856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Premium Wellness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3419856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Aspiration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341985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Beautiful but quiet on Amazon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19" y="341985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Mid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19" y="3419856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419856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D71E83"/>
                </a:solidFill>
                <a:latin typeface="Aptos"/>
              </a:rPr>
              <a:t>Premium, weak mass reach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041648"/>
            <a:ext cx="11274552" cy="658368"/>
          </a:xfrm>
          <a:prstGeom prst="rect">
            <a:avLst/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041648"/>
            <a:ext cx="73152" cy="658368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4096512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Protection Intelligence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60320" y="4096512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Control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4096512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Distinct, structural, ownable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19" y="409651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19" y="4096512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High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4096512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9F25"/>
                </a:solidFill>
                <a:latin typeface="Aptos"/>
              </a:rPr>
              <a:t>Strong — modern &amp; unique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718304"/>
            <a:ext cx="11274552" cy="658368"/>
          </a:xfrm>
          <a:prstGeom prst="rect">
            <a:avLst/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4718304"/>
            <a:ext cx="73152" cy="658368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77316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Pharma-Consumer Hybrid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4773168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Confidence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4773168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Reads credible + human at a glance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19" y="477316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High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19" y="4773168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Mid-Hi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4773168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6B9F25"/>
                </a:solidFill>
                <a:latin typeface="Aptos"/>
              </a:rPr>
              <a:t>Strong — India-right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394960"/>
            <a:ext cx="11274552" cy="658368"/>
          </a:xfrm>
          <a:prstGeom prst="rect">
            <a:avLst/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5394960"/>
            <a:ext cx="73152" cy="658368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5449824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Luxury Derm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60320" y="5449824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Prestige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5449824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Premium; too niche for scale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19" y="54498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544982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V.High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5449824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8C8C8C"/>
                </a:solidFill>
                <a:latin typeface="Aptos"/>
              </a:rPr>
              <a:t>Halo SKU only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3 · PACKAGING 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How the packaging should behave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Recommended world: </a:t>
            </a:r>
            <a:r>
              <a:rPr sz="1300" b="1" i="0">
                <a:solidFill>
                  <a:srgbClr val="D71E83"/>
                </a:solidFill>
                <a:latin typeface="Aptos Display"/>
              </a:rPr>
              <a:t>“Clinical Warmth”</a:t>
            </a:r>
            <a:r>
              <a:rPr sz="1200" b="0" i="0">
                <a:solidFill>
                  <a:srgbClr val="454551"/>
                </a:solidFill>
                <a:latin typeface="Aptos"/>
              </a:rPr>
              <a:t> — pharma-grade credibility carried with human calm. The structure itself becomes the mnemonic.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4028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40280"/>
            <a:ext cx="3611880" cy="82296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7802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C8C8C"/>
                </a:solidFill>
                <a:latin typeface="Aptos Display"/>
              </a:rPr>
              <a:t>What should DISAPPEAR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95351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Fear language, crowded claims, busy florals, six competing icons, 'toxin-free' checklists.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8" y="224028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2240280"/>
            <a:ext cx="3611880" cy="82296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6" y="247802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What should DOMINATE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95351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One outcome, one proof device, generous white space, a single signature colour per outcome.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224028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91856" y="2240280"/>
            <a:ext cx="3611880" cy="82296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247802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775E7"/>
                </a:solidFill>
                <a:latin typeface="Aptos Display"/>
              </a:rPr>
              <a:t>Structure as mnemonic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4" y="295351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A distinctive bottle silhouette + cap system recognised in silhouette — owned at 200px and on shelf.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1480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3611880" cy="82296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35254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9F25"/>
                </a:solidFill>
                <a:latin typeface="Aptos Display"/>
              </a:rPr>
              <a:t>Packaging that teaches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2803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A quiet 'barrier science' cue and a single 'what to expect' outcome ladder — educational, not loud.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8" y="411480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4114800"/>
            <a:ext cx="3611880" cy="82296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25696" y="435254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971E1"/>
                </a:solidFill>
                <a:latin typeface="Aptos Display"/>
              </a:rPr>
              <a:t>Signals safety by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482803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Tamper-evidence, refill architecture, soft-touch finish — safety felt in the hand, not just claimed.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4114800"/>
            <a:ext cx="3611880" cy="1719072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91856" y="4114800"/>
            <a:ext cx="3611880" cy="82296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93024" y="435254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79631"/>
                </a:solidFill>
                <a:latin typeface="Aptos Display"/>
              </a:rPr>
              <a:t>One proof device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4" y="4828032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A single recurring 'Proven' mark (clinical/derm) replaces scattered trust seals across the range.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703320"/>
            <a:ext cx="1280160" cy="914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ptos Display"/>
              </a:rPr>
              <a:t>Brand-Element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E7DDF0"/>
                </a:solidFill>
                <a:latin typeface="Aptos"/>
              </a:rPr>
              <a:t>Every existing element on trial: Keep · Modify · Replace · Delete · Invent.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4 · BRAND-ELEMENT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Every element, judged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11274552" cy="384048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18488"/>
            <a:ext cx="2743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ELEMENT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618488"/>
            <a:ext cx="16459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VERDICT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618488"/>
            <a:ext cx="67665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RATIONALE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56816"/>
            <a:ext cx="1127455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02536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NikoMom name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203911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KEEP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002536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Real equity + cost to change. Keep the name — radically change what it stands for.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18588"/>
            <a:ext cx="11274552" cy="457200"/>
          </a:xfrm>
          <a:prstGeom prst="rect">
            <a:avLst/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464308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“Baby Care Expert” position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50088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REPLACE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2464308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With “Baby Skin-Barrier Company.” Expertise talks down; barrier science empowers.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80360"/>
            <a:ext cx="1127455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926079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Four “-Nest” technologies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29626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048" y="2926079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HydraNest/TenderNest/DermaNest/HealNest → one master platform. Over-engineered.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42132"/>
            <a:ext cx="11274552" cy="457200"/>
          </a:xfrm>
          <a:prstGeom prst="rect">
            <a:avLst/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387851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Master technology platform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424427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INVENT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6048" y="3387851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BarrierNest™ — one signature science endorsement across the range.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803904"/>
            <a:ext cx="1127455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849624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“Safe / toxin-free” as lead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6120" y="388620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REPLACE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56048" y="3849624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Table stakes. Lead with visible outcome + proof; safety becomes a given, not the pitch.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65676"/>
            <a:ext cx="11274552" cy="457200"/>
          </a:xfrm>
          <a:prstGeom prst="rect">
            <a:avLst/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311396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Panacea Biotec endorsement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34797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KEEP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6048" y="4311396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The single biggest asset — the pharma moat. Elevate it as the trust anchor.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727448"/>
            <a:ext cx="1127455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773168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Mother-and-child imagery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46120" y="480974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MODIFY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6048" y="4773168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Shift hero to the baby's outcome; parent as confident winner, not anxious subject.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189220"/>
            <a:ext cx="11274552" cy="457200"/>
          </a:xfrm>
          <a:prstGeom prst="rect">
            <a:avLst/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234940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Multiple trust seals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52715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MODIFY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56048" y="5234940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Collapse to one recurring “Proven” proof device for instant recognition.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650992"/>
            <a:ext cx="1127455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5696712"/>
            <a:ext cx="27432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57307F"/>
                </a:solidFill>
                <a:latin typeface="Aptos"/>
              </a:rPr>
              <a:t>Confidence system / outcome ladder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46120" y="57332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INVENT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5696712"/>
            <a:ext cx="67665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A “what to expect” ladder + parent companion (WhatsApp/app) — the new moat.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4 · BRAND-ELEMENT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technology system is over-engineered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Four proprietary “-Nest” technologies for a young brand fragments equity, confuses parents, and demands an education budget the brand does not have. </a:t>
            </a:r>
            <a:r>
              <a:rPr sz="1200" b="1" i="0">
                <a:solidFill>
                  <a:srgbClr val="D71E83"/>
                </a:solidFill>
                <a:latin typeface="Aptos"/>
              </a:rPr>
              <a:t>Collapse four into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860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505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C8C8C"/>
                </a:solidFill>
                <a:latin typeface="Aptos"/>
              </a:rPr>
              <a:t>BEFORE — four sub-technologies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880360"/>
            <a:ext cx="4663440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999232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54551"/>
                </a:solidFill>
                <a:latin typeface="Aptos"/>
              </a:rPr>
              <a:t>HydraNest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38728"/>
            <a:ext cx="4663440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657600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54551"/>
                </a:solidFill>
                <a:latin typeface="Aptos"/>
              </a:rPr>
              <a:t>TenderNest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97096"/>
            <a:ext cx="4663440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315968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54551"/>
                </a:solidFill>
                <a:latin typeface="Aptos"/>
              </a:rPr>
              <a:t>DermaNest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55464"/>
            <a:ext cx="4663440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7433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54551"/>
                </a:solidFill>
                <a:latin typeface="Aptos"/>
              </a:rPr>
              <a:t>HealNest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321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D71E83"/>
                </a:solidFill>
                <a:latin typeface="Aptos"/>
              </a:rPr>
              <a:t>4 names to explain · 4 badges · 4 equity pools · high confusion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43600" y="3749039"/>
            <a:ext cx="365760" cy="731520"/>
          </a:xfrm>
          <a:prstGeom prst="rightArrow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0" y="2286000"/>
            <a:ext cx="5303520" cy="3657600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AFTER — one master platform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2926080"/>
            <a:ext cx="4389120" cy="1371600"/>
          </a:xfrm>
          <a:prstGeom prst="roundRect">
            <a:avLst>
              <a:gd name="adj" fmla="val 6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315468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ptos Display"/>
              </a:rPr>
              <a:t>BarrierNest™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BDDF3"/>
                </a:solidFill>
                <a:latin typeface="Aptos"/>
              </a:rPr>
              <a:t>One protective science signature, across every product.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48056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✓  Keeps the “Nest” equity (safe, warm, protective)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✓  Adds the “Barrier” science moat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✓  Ingredients &amp; outcomes lead each pack; tech signs quietly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✓  One badge, one story, one equity pool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4 · BRAND-ELEMENT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What the parent should see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Ranked information hierarchy — front of pack, Amazon thumbnail, and quick-commerce tile all obey this order.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40"/>
            <a:ext cx="11274552" cy="53492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148840"/>
            <a:ext cx="566928" cy="534924"/>
          </a:xfrm>
          <a:prstGeom prst="roundRect">
            <a:avLst>
              <a:gd name="adj" fmla="val 12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148840"/>
            <a:ext cx="246888" cy="534924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03704"/>
            <a:ext cx="56692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19456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D71E83"/>
                </a:solidFill>
                <a:latin typeface="Aptos Display"/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194560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What visibly happens — “48h barrier protection”, “no rash”.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702052"/>
            <a:ext cx="11274552" cy="53492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702052"/>
            <a:ext cx="566928" cy="534924"/>
          </a:xfrm>
          <a:prstGeom prst="roundRect">
            <a:avLst>
              <a:gd name="adj" fmla="val 12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702052"/>
            <a:ext cx="246888" cy="534924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756916"/>
            <a:ext cx="56692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47772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PROTECTION / CONFIDENCE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747772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The emotional promise — your baby is protected; you've got this.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55264"/>
            <a:ext cx="11274552" cy="53492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255264"/>
            <a:ext cx="566928" cy="534924"/>
          </a:xfrm>
          <a:prstGeom prst="roundRect">
            <a:avLst>
              <a:gd name="adj" fmla="val 12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255264"/>
            <a:ext cx="246888" cy="534924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310128"/>
            <a:ext cx="56692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300984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775E7"/>
                </a:solidFill>
                <a:latin typeface="Aptos Display"/>
              </a:rPr>
              <a:t>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300984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Clinically / dermatologically tested; paediatrician-recommended stat.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808476"/>
            <a:ext cx="11274552" cy="53492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3808476"/>
            <a:ext cx="566928" cy="534924"/>
          </a:xfrm>
          <a:prstGeom prst="roundRect">
            <a:avLst>
              <a:gd name="adj" fmla="val 12000"/>
            </a:avLst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08476"/>
            <a:ext cx="246888" cy="534924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863339"/>
            <a:ext cx="56692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3854196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4EA6DC"/>
                </a:solidFill>
                <a:latin typeface="Aptos Display"/>
              </a:rPr>
              <a:t>TECHNOLOGY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3854196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BarrierNest™ signature — small, quiet, consistent.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361688"/>
            <a:ext cx="11274552" cy="53492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4361688"/>
            <a:ext cx="566928" cy="534924"/>
          </a:xfrm>
          <a:prstGeom prst="roundRect">
            <a:avLst>
              <a:gd name="adj" fmla="val 12000"/>
            </a:avLst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361688"/>
            <a:ext cx="246888" cy="534924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16551"/>
            <a:ext cx="56692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4407407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6B9F25"/>
                </a:solidFill>
                <a:latin typeface="Aptos Display"/>
              </a:rPr>
              <a:t>INGREDIENTS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4407407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Supporting reason-to-believe; hero actives named.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914900"/>
            <a:ext cx="11274552" cy="53492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7200" y="4914900"/>
            <a:ext cx="566928" cy="534924"/>
          </a:xfrm>
          <a:prstGeom prst="roundRect">
            <a:avLst>
              <a:gd name="adj" fmla="val 12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914900"/>
            <a:ext cx="246888" cy="534924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4969764"/>
            <a:ext cx="56692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496062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79631"/>
                </a:solidFill>
                <a:latin typeface="Aptos Display"/>
              </a:rPr>
              <a:t>PANACEA ENDORSEMENT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4960620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The trust anchor — corner-locked on every pack.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468112"/>
            <a:ext cx="11274552" cy="53492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57200" y="5468112"/>
            <a:ext cx="566928" cy="534924"/>
          </a:xfrm>
          <a:prstGeom prst="roundRect">
            <a:avLst>
              <a:gd name="adj" fmla="val 12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5468112"/>
            <a:ext cx="246888" cy="53492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522976"/>
            <a:ext cx="566928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ptos Display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34440" y="5513832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8C8C8C"/>
                </a:solidFill>
                <a:latin typeface="Aptos Display"/>
              </a:rPr>
              <a:t>ROUTINE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5513832"/>
            <a:ext cx="7040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When &amp; how to use — back of pack and digital companion.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71E83"/>
                </a:solidFill>
                <a:latin typeface="Aptos"/>
              </a:rPr>
              <a:t>REJECTED AS LEAD: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“Safe / toxin-free” (table stakes) · heavy technology (education cost) · “trust” as an adjective (unprovable).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703320"/>
            <a:ext cx="1280160" cy="914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ptos Display"/>
              </a:rPr>
              <a:t>Naming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E7DDF0"/>
                </a:solidFill>
                <a:latin typeface="Aptos"/>
              </a:rPr>
              <a:t>Name, sub-brands, variants and technology — judged for equity, SEO, trademark and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5 · NAMING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NikoMom: keep the name, replace its meaning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554480"/>
            <a:ext cx="5394960" cy="45262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THE HONEST CASE AGAINST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48840"/>
            <a:ext cx="4937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–  “Mom” centres the mother — but the hero is the baby's outcome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–  Excludes fathers &amp; modern shared parenting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–  “Niko” is warm but generic; limited science signal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–  Weaker standalone trademark &amp; global distinctiveness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9F25"/>
                </a:solidFill>
                <a:latin typeface="Aptos"/>
              </a:rPr>
              <a:t>THE CASE FOR KEEPING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80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+  Real, hard-won equity in market already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+  “Niko” = short, warm, globally pronounceable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+  Rebranding cost &amp; risk are material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54551"/>
                </a:solidFill>
                <a:latin typeface="Aptos"/>
              </a:rPr>
              <a:t>+  Meaning can be rebuilt without a rename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554480"/>
            <a:ext cx="5577840" cy="4526280"/>
          </a:xfrm>
          <a:prstGeom prst="roundRect">
            <a:avLst>
              <a:gd name="adj" fmla="val 6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BDDF3"/>
                </a:solidFill>
                <a:latin typeface="Aptos"/>
              </a:rPr>
              <a:t>VERDICT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148840"/>
            <a:ext cx="5120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FFFFFF"/>
                </a:solidFill>
                <a:latin typeface="Aptos Display"/>
              </a:rPr>
              <a:t>Keep </a:t>
            </a:r>
            <a:r>
              <a:rPr sz="1800" b="1" i="0">
                <a:solidFill>
                  <a:srgbClr val="FFFFFF"/>
                </a:solidFill>
                <a:latin typeface="Aptos Display"/>
              </a:rPr>
              <a:t>NikoMom</a:t>
            </a:r>
            <a:r>
              <a:rPr sz="1800" b="0" i="0">
                <a:solidFill>
                  <a:srgbClr val="FFFFFF"/>
                </a:solidFill>
                <a:latin typeface="Aptos Display"/>
              </a:rPr>
              <a:t>. Radically change what it means — from “mom's little helper” to India's baby skin-barrier science company.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HOW THE MEANING SHIFTS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Niko</a:t>
            </a:r>
            <a:r>
              <a:rPr sz="1100" b="0" i="0">
                <a:solidFill>
                  <a:srgbClr val="EBDDF3"/>
                </a:solidFill>
                <a:latin typeface="Aptos"/>
              </a:rPr>
              <a:t> — warmth, the human bond, “victory / good” resonance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EBDDF3"/>
                </a:solidFill>
                <a:latin typeface="Aptos"/>
              </a:rPr>
              <a:t>+ a science endorsement signature (BarrierNest™ + Panacea)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= warm name, serious science. The tension is the brand.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5 · NAMING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One naming system, built for SEO and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11274552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737360"/>
            <a:ext cx="11274552" cy="786384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37360"/>
            <a:ext cx="82296" cy="786384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Master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847088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9F25"/>
                </a:solidFill>
                <a:latin typeface="Aptos"/>
              </a:rPr>
              <a:t>Keep NikoMom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1847088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Endorsed by Panacea Biotec. Warm human name, serious science backer.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847088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54551"/>
                </a:solidFill>
                <a:latin typeface="Aptos"/>
              </a:rPr>
              <a:t>→ Ownable + equity retained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615184"/>
            <a:ext cx="11274552" cy="78638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15184"/>
            <a:ext cx="82296" cy="786384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724912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Variant naming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724912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4775E7"/>
                </a:solidFill>
                <a:latin typeface="Aptos"/>
              </a:rPr>
              <a:t>Descriptive + 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24912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“NikoMom Barrier Cream”, “Daily Protect Lotion” — not “DermaNest”.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724912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54551"/>
                </a:solidFill>
                <a:latin typeface="Aptos"/>
              </a:rPr>
              <a:t>→ Wins Amazon/Google 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93008"/>
            <a:ext cx="11274552" cy="786384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82296" cy="786384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60273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Sub-brand logic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602736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79631"/>
                </a:solidFill>
                <a:latin typeface="Aptos"/>
              </a:rPr>
              <a:t>Minimal / none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602736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One master brand + descriptive ranges. Avoid sub-brand sprawl.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602736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54551"/>
                </a:solidFill>
                <a:latin typeface="Aptos"/>
              </a:rPr>
              <a:t>→ Cheaper to build, clearer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370831"/>
            <a:ext cx="11274552" cy="786384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370831"/>
            <a:ext cx="82296" cy="786384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480559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Technology naming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480559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71E83"/>
                </a:solidFill>
                <a:latin typeface="Aptos"/>
              </a:rPr>
              <a:t>One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480559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BarrierNest™ only. Benefit-led, not clinical jargon.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4480559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54551"/>
                </a:solidFill>
                <a:latin typeface="Aptos"/>
              </a:rPr>
              <a:t>→ One equity pool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248656"/>
            <a:ext cx="11274552" cy="786384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248656"/>
            <a:ext cx="82296" cy="786384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358384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7307F"/>
                </a:solidFill>
                <a:latin typeface="Aptos Display"/>
              </a:rPr>
              <a:t>Range architecture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358384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971E1"/>
                </a:solidFill>
                <a:latin typeface="Aptos"/>
              </a:rPr>
              <a:t>By outcome, not chemistry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5358384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Protect · Cleanse · Repair · Soothe — shopper language.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5358384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54551"/>
                </a:solidFill>
                <a:latin typeface="Aptos"/>
              </a:rPr>
              <a:t>→ Intuitive on shelf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D71E83"/>
                </a:solidFill>
                <a:latin typeface="Aptos"/>
              </a:rPr>
              <a:t>PRINCIPLE   </a:t>
            </a:r>
            <a:r>
              <a:rPr sz="1050" b="0" i="0">
                <a:solidFill>
                  <a:srgbClr val="454551"/>
                </a:solidFill>
                <a:latin typeface="Aptos"/>
              </a:rPr>
              <a:t>Proprietary names for the ONE thing worth owning (the technology). Descriptive, searchable names for everything a parent types into a search bar.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703320"/>
            <a:ext cx="1280160" cy="914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ptos Display"/>
              </a:rPr>
              <a:t>Decision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E7DDF0"/>
                </a:solidFill>
                <a:latin typeface="Aptos"/>
              </a:rPr>
              <a:t>Six directions scored across fourteen board-level criteria. The matrix, not the opinion,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6 · DECISION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decision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508760"/>
            <a:ext cx="11274552" cy="566928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7276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DIRECTION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Desirability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9844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Distinctiveness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409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Memorability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2974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Shelf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9539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Amazon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6104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2668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Sci. credibility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9233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Scalability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35798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Portfolio flex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2363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Future-proof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8927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Ease exec.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5492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62057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Ownability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622" y="1517904"/>
            <a:ext cx="556564" cy="5486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660" b="1" i="0">
                <a:solidFill>
                  <a:srgbClr val="FFFFFF"/>
                </a:solidFill>
                <a:latin typeface="Aptos"/>
              </a:rPr>
              <a:t>Int'l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5187" y="1572768"/>
            <a:ext cx="8308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Aptos"/>
              </a:rPr>
              <a:t>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093976"/>
            <a:ext cx="11274552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39696"/>
            <a:ext cx="2788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57307F"/>
                </a:solidFill>
                <a:latin typeface="Aptos"/>
              </a:rPr>
              <a:t>Baby Care Expert (current)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01568" y="215798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0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8132" y="2157984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9844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14697" y="215798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409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71262" y="2157984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52974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7827" y="2157984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09539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4391" y="215798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66104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40956" y="215798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2668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97521" y="215798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79233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54086" y="215798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35798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0651" y="2157984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92363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67215" y="215798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48927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23780" y="215798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5492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80345" y="2157984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62057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36910" y="215798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18622" y="215798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75187" y="2139696"/>
            <a:ext cx="83088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7307F"/>
                </a:solidFill>
                <a:latin typeface="Aptos Display"/>
              </a:rPr>
              <a:t>39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2697480"/>
            <a:ext cx="11274552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2743200"/>
            <a:ext cx="2788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57307F"/>
                </a:solidFill>
                <a:latin typeface="Aptos"/>
              </a:rPr>
              <a:t>Natural / Gentle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01568" y="2761488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83280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958132" y="2761488"/>
            <a:ext cx="519988" cy="457200"/>
          </a:xfrm>
          <a:prstGeom prst="rect">
            <a:avLst/>
          </a:prstGeom>
          <a:solidFill>
            <a:srgbClr val="E9C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9844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14697" y="2761488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496409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71262" y="2761488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52974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27827" y="2761488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09539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84391" y="2761488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66104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740956" y="2761488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22668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97521" y="2761488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79233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54086" y="2761488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35798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10651" y="2761488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92363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67215" y="2761488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948927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523780" y="2761488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505492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080345" y="2761488"/>
            <a:ext cx="519988" cy="457200"/>
          </a:xfrm>
          <a:prstGeom prst="rect">
            <a:avLst/>
          </a:prstGeom>
          <a:solidFill>
            <a:srgbClr val="E9C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062057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636910" y="2761488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618622" y="2761488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175187" y="2743200"/>
            <a:ext cx="83088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7307F"/>
                </a:solidFill>
                <a:latin typeface="Aptos Display"/>
              </a:rPr>
              <a:t>34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3300984"/>
            <a:ext cx="11274552" cy="585216"/>
          </a:xfrm>
          <a:prstGeom prst="rect">
            <a:avLst/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57200" y="3300984"/>
            <a:ext cx="11274552" cy="585216"/>
          </a:xfrm>
          <a:prstGeom prst="rect">
            <a:avLst/>
          </a:prstGeom>
          <a:noFill/>
          <a:ln w="19050">
            <a:solidFill>
              <a:srgbClr val="D71E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3346704"/>
            <a:ext cx="2788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D71E83"/>
                </a:solidFill>
                <a:latin typeface="Aptos"/>
              </a:rPr>
              <a:t>Skin-Barrier Company ★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01568" y="3364992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383280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958132" y="3364992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9844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14697" y="3364992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496409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71262" y="3364992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52974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627827" y="3364992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09539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84391" y="3364992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166104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40956" y="3364992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22668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297521" y="3364992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279233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54086" y="3364992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835798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410651" y="3364992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92363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967215" y="3364992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948927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523780" y="3364992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505492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80345" y="3364992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062057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636910" y="3364992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618622" y="3364992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75187" y="3346704"/>
            <a:ext cx="83088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61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3904488"/>
            <a:ext cx="11274552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6928" y="3950208"/>
            <a:ext cx="2788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57307F"/>
                </a:solidFill>
                <a:latin typeface="Aptos"/>
              </a:rPr>
              <a:t>First 1000 Days System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401568" y="3968496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383280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958132" y="3968496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939844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514697" y="3968496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496409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71262" y="3968496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052974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627827" y="3968496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09539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184391" y="3968496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166104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40956" y="3968496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22668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297521" y="3968496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279233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854086" y="3968496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835798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410651" y="3968496"/>
            <a:ext cx="519988" cy="45720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392363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967215" y="3968496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948927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523780" y="3968496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505492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080345" y="3968496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062057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636910" y="3968496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618622" y="3968496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175187" y="3950208"/>
            <a:ext cx="83088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7307F"/>
                </a:solidFill>
                <a:latin typeface="Aptos Display"/>
              </a:rPr>
              <a:t>52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57200" y="4507992"/>
            <a:ext cx="11274552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6928" y="4553712"/>
            <a:ext cx="2788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57307F"/>
                </a:solidFill>
                <a:latin typeface="Aptos"/>
              </a:rPr>
              <a:t>Daily Rituals / Calm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401568" y="4572000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383280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958132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939844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514697" y="4572000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496409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071262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52974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627827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609539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184391" y="4572000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166104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740956" y="4572000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722668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297521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279233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854086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35798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410651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392363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967215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8948927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523780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505492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0080345" y="4572000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062057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636910" y="4572000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0618622" y="4572000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175187" y="4553712"/>
            <a:ext cx="83088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7307F"/>
                </a:solidFill>
                <a:latin typeface="Aptos Display"/>
              </a:rPr>
              <a:t>45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57200" y="5111496"/>
            <a:ext cx="11274552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66928" y="5157216"/>
            <a:ext cx="2788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i="0">
                <a:solidFill>
                  <a:srgbClr val="57307F"/>
                </a:solidFill>
                <a:latin typeface="Aptos"/>
              </a:rPr>
              <a:t>Indian Baby Science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3401568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383280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3958132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3939844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514697" y="517550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496409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5071262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5052974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5627827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5609539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84391" y="517550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6166104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740956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722668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297521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7279233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7854086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835798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8410651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2363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967215" y="517550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948927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523780" y="5175504"/>
            <a:ext cx="519988" cy="4572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505492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3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080345" y="5175504"/>
            <a:ext cx="519988" cy="457200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0062057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4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636910" y="5175504"/>
            <a:ext cx="519988" cy="457200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618622" y="5175504"/>
            <a:ext cx="55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454551"/>
                </a:solidFill>
                <a:latin typeface="Aptos"/>
              </a:rPr>
              <a:t>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1175187" y="5157216"/>
            <a:ext cx="83088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7307F"/>
                </a:solidFill>
                <a:latin typeface="Aptos Display"/>
              </a:rPr>
              <a:t>50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8C8C8C"/>
                </a:solidFill>
                <a:latin typeface="Aptos"/>
              </a:rPr>
              <a:t>Scale 1–5 (5 = strongest). </a:t>
            </a:r>
            <a:r>
              <a:rPr sz="900" b="0" i="0">
                <a:solidFill>
                  <a:srgbClr val="454551"/>
                </a:solidFill>
                <a:latin typeface="Aptos"/>
              </a:rPr>
              <a:t>Skin-Barrier Company leads on 11 of 14 criteria — and every criterion that builds a moat.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138160" y="5779008"/>
            <a:ext cx="201168" cy="201168"/>
          </a:xfrm>
          <a:prstGeom prst="rect">
            <a:avLst/>
          </a:prstGeom>
          <a:solidFill>
            <a:srgbClr val="E7C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8375904" y="576986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454551"/>
                </a:solidFill>
                <a:latin typeface="Aptos"/>
              </a:rPr>
              <a:t>Weak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9006840" y="5779008"/>
            <a:ext cx="201168" cy="201168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9244584" y="576986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454551"/>
                </a:solidFill>
                <a:latin typeface="Aptos"/>
              </a:rPr>
              <a:t>OK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875519" y="5779008"/>
            <a:ext cx="201168" cy="201168"/>
          </a:xfrm>
          <a:prstGeom prst="rect">
            <a:avLst/>
          </a:prstGeom>
          <a:solidFill>
            <a:srgbClr val="9EC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0113263" y="576986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454551"/>
                </a:solidFill>
                <a:latin typeface="Aptos"/>
              </a:rPr>
              <a:t>Strong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744199" y="5779008"/>
            <a:ext cx="201168" cy="201168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981943" y="5769864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454551"/>
                </a:solidFill>
                <a:latin typeface="Aptos"/>
              </a:rPr>
              <a:t>Best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6 · DECISION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Why the other directions were rejected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74552" cy="841248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82296" cy="841248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77393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Baby Care Expert (current)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1865376"/>
            <a:ext cx="868680" cy="420624"/>
          </a:xfrm>
          <a:prstGeom prst="roundRect">
            <a:avLst>
              <a:gd name="adj" fmla="val 6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1892808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755648"/>
            <a:ext cx="6629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Safe and executable, but undifferentiated and un-ownable. “Expert” is a posture every brand claims; it builds no moat and caps premium.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551176"/>
            <a:ext cx="11274552" cy="841248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51176"/>
            <a:ext cx="82296" cy="841248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67919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Natural / Gentle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94760" y="2770632"/>
            <a:ext cx="868680" cy="420624"/>
          </a:xfrm>
          <a:prstGeom prst="roundRect">
            <a:avLst>
              <a:gd name="adj" fmla="val 6000"/>
            </a:avLst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60" y="2798064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660904"/>
            <a:ext cx="6629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Lowest distinctiveness and ownability. Directly into Mamaearth's teeth with none of its D2C cost advantage. A red-ocean fight.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456432"/>
            <a:ext cx="11274552" cy="841248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456432"/>
            <a:ext cx="82296" cy="841248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8444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First 1000 Days System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3675888"/>
            <a:ext cx="868680" cy="420624"/>
          </a:xfrm>
          <a:prstGeom prst="roundRect">
            <a:avLst>
              <a:gd name="adj" fmla="val 6000"/>
            </a:avLst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3703320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566160"/>
            <a:ext cx="6629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Powerful and the natural extension — but too broad to launch on. Hard to execute now; adopted as the long-term runway, not the entry idea.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361688"/>
            <a:ext cx="11274552" cy="841248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361688"/>
            <a:ext cx="82296" cy="841248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89704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Daily Rituals / Calm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94760" y="4581144"/>
            <a:ext cx="868680" cy="420624"/>
          </a:xfrm>
          <a:prstGeom prst="roundRect">
            <a:avLst>
              <a:gd name="adj" fmla="val 6000"/>
            </a:avLst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4760" y="4608576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471416"/>
            <a:ext cx="6629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Warm and likeable, but sacrifices the science moat only Panacea can own. Emotionally soft against value-led competitors.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266944"/>
            <a:ext cx="11274552" cy="841248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266944"/>
            <a:ext cx="82296" cy="841248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39496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7307F"/>
                </a:solidFill>
                <a:latin typeface="Aptos Display"/>
              </a:rPr>
              <a:t>Indian Baby Science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94760" y="5486400"/>
            <a:ext cx="868680" cy="420624"/>
          </a:xfrm>
          <a:prstGeom prst="roundRect">
            <a:avLst>
              <a:gd name="adj" fmla="val 6000"/>
            </a:avLst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60" y="5513832"/>
            <a:ext cx="868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5376672"/>
            <a:ext cx="6629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Strong and defensible, but weak international relevance and better used as a proof pillar under the barrier story than as the whole brand.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Winner: Baby Skin-Barrier Company — 62 / 70.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0" b="1" i="0">
                <a:solidFill>
                  <a:srgbClr val="FFFFFF"/>
                </a:solidFill>
                <a:latin typeface="Aptos Display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703320"/>
            <a:ext cx="1280160" cy="9144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Aptos Display"/>
              </a:rP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7492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E7DDF0"/>
                </a:solidFill>
                <a:latin typeface="Aptos"/>
              </a:rPr>
              <a:t>One direction. The reasoning, the trade-offs, and the inputs it locks for Workshops 2–5.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7 · FINAL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The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508760"/>
            <a:ext cx="11274552" cy="1965960"/>
          </a:xfrm>
          <a:prstGeom prst="roundRect">
            <a:avLst>
              <a:gd name="adj" fmla="val 6000"/>
            </a:avLst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10698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1" i="0">
                <a:solidFill>
                  <a:srgbClr val="FFFFFF"/>
                </a:solidFill>
                <a:latin typeface="Aptos Display"/>
              </a:rPr>
              <a:t>NikoMom becomes India's Baby Skin-Barrier Company.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EBDDF3"/>
                </a:solidFill>
                <a:latin typeface="Aptos"/>
              </a:rPr>
              <a:t>The pharma-backed brand — by Panacea Biotec — that protects and builds a baby's skin barrier, and turns anxious parents into confident ones through visible proof. </a:t>
            </a:r>
            <a:r>
              <a:rPr sz="1300" b="1" i="0">
                <a:solidFill>
                  <a:srgbClr val="FFFFFF"/>
                </a:solidFill>
                <a:latin typeface="Aptos"/>
              </a:rPr>
              <a:t>We don't sell safety. We prove protection.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1">
                <a:solidFill>
                  <a:srgbClr val="D9C4E8"/>
                </a:solidFill>
                <a:latin typeface="Aptos"/>
              </a:rPr>
              <a:t>Signature idea:  “Protection, proven.”      Emotion owned: confidence.      Moat: pharma science + Indian barrier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03320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08736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886200"/>
            <a:ext cx="9509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54551"/>
                </a:solidFill>
                <a:latin typeface="Aptos"/>
              </a:rPr>
              <a:t>Baby Care Expert · reassurance · gentle &amp; safe · four technologies · mother-hero · trust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BE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532180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120640"/>
            <a:ext cx="95097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7307F"/>
                </a:solidFill>
                <a:latin typeface="Aptos"/>
              </a:rPr>
              <a:t>Baby Skin-Barrier Company · confidence · protection proven · one BarrierNest™ · baby-outcome hero · proof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7 · FINAL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One idea that works everywhere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“Protection, proven” must survive every touchpoint. It does — because it is a system, not a slogan.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4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48840"/>
            <a:ext cx="2670048" cy="82296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6829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Packaging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Outcome + one proof device + BarrierNest™ signature; structure as mnemonic.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214884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73552" y="2148840"/>
            <a:ext cx="2670048" cy="82296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6432" y="236829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775E7"/>
                </a:solidFill>
                <a:latin typeface="Aptos Display"/>
              </a:rPr>
              <a:t>Amazon / Q-commerce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283464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Outcome-led thumbnails; A+ proof modules; searchable descriptive names.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214884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9904" y="2148840"/>
            <a:ext cx="2670048" cy="82296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236829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9F25"/>
                </a:solidFill>
                <a:latin typeface="Aptos Display"/>
              </a:rPr>
              <a:t>Doctors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283464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Paediatrician &amp; derm proof leads — pharma credibility is native here.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06256" y="214884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6256" y="2148840"/>
            <a:ext cx="2670048" cy="82296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236829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971E1"/>
                </a:solidFill>
                <a:latin typeface="Aptos Display"/>
              </a:rPr>
              <a:t>Website / CRM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9136" y="283464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The barrier-science story + “what to expect” outcome ladder.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1480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114800"/>
            <a:ext cx="2670048" cy="82296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33425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79631"/>
                </a:solidFill>
                <a:latin typeface="Aptos Display"/>
              </a:rPr>
              <a:t>WhatsApp companion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006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A daily routine coach — the confidence engine and retention moat.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73552" y="411480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73552" y="4114800"/>
            <a:ext cx="2670048" cy="82296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56432" y="433425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EA6DC"/>
                </a:solidFill>
                <a:latin typeface="Aptos Display"/>
              </a:rPr>
              <a:t>Subscriptions / refills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48006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Barrier routine kits by growth stage; refills lower cost &amp; waste.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89904" y="411480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89904" y="4114800"/>
            <a:ext cx="2670048" cy="82296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72784" y="433425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 Display"/>
              </a:rPr>
              <a:t>Community / sampling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48006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“Barrier Club” — proof shared parent-to-parent; UGC of real outcomes.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06256" y="4114800"/>
            <a:ext cx="2670048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06256" y="4114800"/>
            <a:ext cx="2670048" cy="82296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89136" y="4334256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7307F"/>
                </a:solidFill>
                <a:latin typeface="Aptos Display"/>
              </a:rPr>
              <a:t>International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4800600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454551"/>
                </a:solidFill>
                <a:latin typeface="Aptos"/>
              </a:rPr>
              <a:t>Barrier science travels; India-relevance localises without a rebrand.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7 · FINAL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Trade-offs we accept, with eyes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73736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737360"/>
            <a:ext cx="82296" cy="128016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83664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71E83"/>
                </a:solidFill>
                <a:latin typeface="Aptos"/>
              </a:rPr>
              <a:t>⚠  </a:t>
            </a:r>
            <a:r>
              <a:rPr sz="1250" b="1" i="0">
                <a:solidFill>
                  <a:srgbClr val="57307F"/>
                </a:solidFill>
                <a:latin typeface="Aptos Display"/>
              </a:rPr>
              <a:t>Higher proof burden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0428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We must fund real clinical/derm substantiation. But it's exactly the moat competitors can't cross.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73736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9904" y="1737360"/>
            <a:ext cx="82296" cy="1280160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883664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775E7"/>
                </a:solidFill>
                <a:latin typeface="Aptos"/>
              </a:rPr>
              <a:t>⚠  </a:t>
            </a:r>
            <a:r>
              <a:rPr sz="1250" b="1" i="0">
                <a:solidFill>
                  <a:srgbClr val="57307F"/>
                </a:solidFill>
                <a:latin typeface="Aptos Display"/>
              </a:rPr>
              <a:t>Slower, costlier than “natural”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30428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Science credibility takes investment. Panacea's R&amp;D makes it feasible where D2C cannot follow.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5468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154680"/>
            <a:ext cx="82296" cy="1280160"/>
          </a:xfrm>
          <a:prstGeom prst="rect">
            <a:avLst/>
          </a:prstGeom>
          <a:solidFill>
            <a:srgbClr val="F79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300984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79631"/>
                </a:solidFill>
                <a:latin typeface="Aptos"/>
              </a:rPr>
              <a:t>⚠  </a:t>
            </a:r>
            <a:r>
              <a:rPr sz="1250" b="1" i="0">
                <a:solidFill>
                  <a:srgbClr val="57307F"/>
                </a:solidFill>
                <a:latin typeface="Aptos Display"/>
              </a:rPr>
              <a:t>Warmth risk (too clinical)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72160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“Clinical Warmth” world + “Niko” name deliberately re-inject the human. Monitored in Workshop 4.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9904" y="315468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9904" y="3154680"/>
            <a:ext cx="82296" cy="1280160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3300984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971E1"/>
                </a:solidFill>
                <a:latin typeface="Aptos"/>
              </a:rPr>
              <a:t>⚠  </a:t>
            </a:r>
            <a:r>
              <a:rPr sz="1250" b="1" i="0">
                <a:solidFill>
                  <a:srgbClr val="57307F"/>
                </a:solidFill>
                <a:latin typeface="Aptos Display"/>
              </a:rPr>
              <a:t>Name tension (Mom vs baby-hero)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72160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We keep equity and reframe meaning — accepting a managed tension over a costly rename.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7200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72000"/>
            <a:ext cx="82296" cy="1280160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718304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B9F25"/>
                </a:solidFill>
                <a:latin typeface="Aptos"/>
              </a:rPr>
              <a:t>⚠  </a:t>
            </a:r>
            <a:r>
              <a:rPr sz="1250" b="1" i="0">
                <a:solidFill>
                  <a:srgbClr val="57307F"/>
                </a:solidFill>
                <a:latin typeface="Aptos Display"/>
              </a:rPr>
              <a:t>Education need for “barrier”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13892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The barrier idea needs teaching — but that's the parent's exact unanswered question. Content is the product.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9904" y="4572000"/>
            <a:ext cx="5486400" cy="128016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9904" y="4572000"/>
            <a:ext cx="82296" cy="1280160"/>
          </a:xfrm>
          <a:prstGeom prst="rect">
            <a:avLst/>
          </a:prstGeom>
          <a:solidFill>
            <a:srgbClr val="4EA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4718304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EA6DC"/>
                </a:solidFill>
                <a:latin typeface="Aptos"/>
              </a:rPr>
              <a:t>⚠  </a:t>
            </a:r>
            <a:r>
              <a:rPr sz="1250" b="1" i="0">
                <a:solidFill>
                  <a:srgbClr val="57307F"/>
                </a:solidFill>
                <a:latin typeface="Aptos Display"/>
              </a:rPr>
              <a:t>Premium vs mass reach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18504" y="513892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54551"/>
                </a:solidFill>
                <a:latin typeface="Aptos"/>
              </a:rPr>
              <a:t>Anchor premium via proof; ladder to accessible SKUs so credibility trickles down, not up.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Net:  </a:t>
            </a:r>
            <a:r>
              <a:rPr sz="1100" b="0" i="0">
                <a:solidFill>
                  <a:srgbClr val="454551"/>
                </a:solidFill>
                <a:latin typeface="Aptos"/>
              </a:rPr>
              <a:t>Every trade-off is on the side of the moat. The hard parts are exactly what makes the position ownable.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802368" y="27432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0736" y="301751"/>
            <a:ext cx="1691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7307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454551"/>
                </a:solidFill>
                <a:latin typeface="Aptos"/>
              </a:rPr>
              <a:t>BEST IN GOODNESS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71E83"/>
                </a:solidFill>
                <a:latin typeface="Aptos"/>
              </a:rPr>
              <a:t>7 · FINAL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9052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7307F"/>
                </a:solidFill>
                <a:latin typeface="Aptos Display"/>
              </a:rPr>
              <a:t>What this locks for Workshops 2–5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45566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Confidential. Circulation Restricted.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Aptos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1274552" cy="12801"/>
          </a:xfrm>
          <a:prstGeom prst="rect">
            <a:avLst/>
          </a:prstGeom>
          <a:solidFill>
            <a:srgbClr val="454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74552" cy="12801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54551"/>
                </a:solidFill>
                <a:latin typeface="Aptos"/>
              </a:rPr>
              <a:t>Workshop 1 constrains everything downstream. These are the locked inputs the next four workshops must build within.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4884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148840"/>
            <a:ext cx="5486400" cy="502920"/>
          </a:xfrm>
          <a:prstGeom prst="roundRect">
            <a:avLst>
              <a:gd name="adj" fmla="val 8000"/>
            </a:avLst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04872"/>
            <a:ext cx="5486400" cy="246888"/>
          </a:xfrm>
          <a:prstGeom prst="rect">
            <a:avLst/>
          </a:prstGeom>
          <a:solidFill>
            <a:srgbClr val="477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31136"/>
            <a:ext cx="5029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ptos Display"/>
              </a:rPr>
              <a:t>W2 — Define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07208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Claims ladder from OUTCOME → proof. BarrierNest™ is the single technology narrative. “What to expect” outcome ladder is the spine.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9904" y="214884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089904" y="2148840"/>
            <a:ext cx="5486400" cy="502920"/>
          </a:xfrm>
          <a:prstGeom prst="roundRect">
            <a:avLst>
              <a:gd name="adj" fmla="val 8000"/>
            </a:avLst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9904" y="2404872"/>
            <a:ext cx="5486400" cy="246888"/>
          </a:xfrm>
          <a:prstGeom prst="rect">
            <a:avLst/>
          </a:prstGeom>
          <a:solidFill>
            <a:srgbClr val="897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2231136"/>
            <a:ext cx="5029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ptos Display"/>
              </a:rPr>
              <a:t>W3 — Meaning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807208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Purpose: confident parenting through proven protection. Voice: warm-but-precise (“clinical warmth”). Positioning: the Baby Skin-Barrier Company.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6908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4069080"/>
            <a:ext cx="5486400" cy="502920"/>
          </a:xfrm>
          <a:prstGeom prst="roundRect">
            <a:avLst>
              <a:gd name="adj" fmla="val 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25112"/>
            <a:ext cx="5486400" cy="246888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151376"/>
            <a:ext cx="5029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ptos Display"/>
              </a:rPr>
              <a:t>W4 — Translate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27448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Visual world: Clinical Warmth. Structure as mnemonic. Outcome-coded colour. One proof device. Baby-outcome hero imagery.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9904" y="406908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089904" y="4069080"/>
            <a:ext cx="5486400" cy="502920"/>
          </a:xfrm>
          <a:prstGeom prst="roundRect">
            <a:avLst>
              <a:gd name="adj" fmla="val 8000"/>
            </a:avLst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9904" y="4325112"/>
            <a:ext cx="5486400" cy="246888"/>
          </a:xfrm>
          <a:prstGeom prst="rect">
            <a:avLst/>
          </a:prstGeom>
          <a:solidFill>
            <a:srgbClr val="6B9F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4151376"/>
            <a:ext cx="5029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ptos Display"/>
              </a:rPr>
              <a:t>W5 — Finalise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727448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454551"/>
                </a:solidFill>
                <a:latin typeface="Aptos"/>
              </a:rPr>
              <a:t>Pressure-test “Protection, proven” across pack, Amazon, doctor, WhatsApp companion, subscription and community without breaking.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573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8096" cy="146304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BDDF3"/>
                </a:solidFill>
                <a:latin typeface="Aptos"/>
              </a:rPr>
              <a:t>WORKSHOP 1 — 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Aptos Display"/>
              </a:rPr>
              <a:t>Protection, proven.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EBDDF3"/>
                </a:solidFill>
                <a:latin typeface="Aptos Display"/>
              </a:rPr>
              <a:t>NikoMom — India's Baby Skin-Barrier Company.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6048" y="3840480"/>
            <a:ext cx="2286000" cy="45720"/>
          </a:xfrm>
          <a:prstGeom prst="rect">
            <a:avLst/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E0D0EC"/>
                </a:solidFill>
                <a:latin typeface="Aptos"/>
              </a:rPr>
              <a:t>The foundation for Workshops 2–5: a coherent, differentiated,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E0D0EC"/>
                </a:solidFill>
                <a:latin typeface="Aptos"/>
              </a:rPr>
              <a:t>globally scalable, science-backed brand system — not incremental refinement.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52578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D71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Aptos Display"/>
              </a:rPr>
              <a:t>7N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5294376"/>
            <a:ext cx="2926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Panacea Biotec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D9C4E8"/>
                </a:solidFill>
                <a:latin typeface="Aptos"/>
              </a:rPr>
              <a:t>BEST IN GOODNESS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9B8D8"/>
                </a:solidFill>
                <a:latin typeface="Aptos"/>
              </a:rPr>
              <a:t>July 2026   ·   Confidential. Circulation Restricted.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