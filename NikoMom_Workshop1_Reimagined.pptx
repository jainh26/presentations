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74920" y="1051560"/>
            <a:ext cx="868680" cy="868680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2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133856"/>
            <a:ext cx="4114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71E83"/>
                </a:solidFill>
                <a:latin typeface="Aptos"/>
              </a:rPr>
              <a:t>BRAND CREATION WORKSHOP 1  ·  REIMAGINED FROM FIRST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400" b="1" i="0">
                <a:solidFill>
                  <a:srgbClr val="57307F"/>
                </a:solidFill>
                <a:latin typeface="Aptos Display"/>
              </a:rPr>
              <a:t>NikoMom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454551"/>
                </a:solidFill>
                <a:latin typeface="Aptos Display"/>
              </a:rPr>
              <a:t>Building India's most trusted, globally scalable baby-care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4709160"/>
            <a:ext cx="4114800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0" y="4754880"/>
            <a:ext cx="4114800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1">
                <a:solidFill>
                  <a:srgbClr val="454551"/>
                </a:solidFill>
                <a:latin typeface="Aptos"/>
              </a:rPr>
              <a:t>A board-level strategic recommendation by the Global Brand Council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1">
                <a:solidFill>
                  <a:srgbClr val="8C8C8C"/>
                </a:solidFill>
                <a:latin typeface="Aptos"/>
              </a:rPr>
              <a:t>Challenge everything. Keep only what survives scrutiny.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   ·   Confidential. Circulation Restricted.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WHY WE ARE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The mandate: do not redesign — reimagine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6400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454551"/>
                </a:solidFill>
                <a:latin typeface="Aptos"/>
              </a:rPr>
              <a:t>We were not asked to refine packaging. We were asked whether </a:t>
            </a:r>
            <a:r>
              <a:rPr sz="1300" b="1" i="0">
                <a:solidFill>
                  <a:srgbClr val="D71E83"/>
                </a:solidFill>
                <a:latin typeface="Aptos"/>
              </a:rPr>
              <a:t>the current direction is the strongest possible direction</a:t>
            </a:r>
            <a:r>
              <a:rPr sz="1300" b="0" i="0">
                <a:solidFill>
                  <a:srgbClr val="454551"/>
                </a:solidFill>
                <a:latin typeface="Aptos"/>
              </a:rPr>
              <a:t> — and to replace it if it is not.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Everything in the existing workshop — positioning, technologies, trust architecture, layouts — is treated as a </a:t>
            </a:r>
            <a:r>
              <a:rPr sz="1200" b="1" i="0">
                <a:solidFill>
                  <a:srgbClr val="57307F"/>
                </a:solidFill>
                <a:latin typeface="Aptos"/>
              </a:rPr>
              <a:t>hypothesis, not a decision.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1554480"/>
            <a:ext cx="4663440" cy="4572000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7373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SIX ASSUMPTIONS WE PUT ON TRIAL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194560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✕  </a:t>
            </a:r>
            <a:r>
              <a:rPr sz="1150" b="1" i="0">
                <a:solidFill>
                  <a:srgbClr val="57307F"/>
                </a:solidFill>
                <a:latin typeface="Aptos"/>
              </a:rPr>
              <a:t>The category needs another “safe” brand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     “Safe” is now table-stakes hygiene, not a difference.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843784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✕  </a:t>
            </a:r>
            <a:r>
              <a:rPr sz="1150" b="1" i="0">
                <a:solidFill>
                  <a:srgbClr val="57307F"/>
                </a:solidFill>
                <a:latin typeface="Aptos"/>
              </a:rPr>
              <a:t>NikoMom should be a “Baby Care Expert”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     Expertise talks down; parents want to feel capable.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493008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✕  </a:t>
            </a:r>
            <a:r>
              <a:rPr sz="1150" b="1" i="0">
                <a:solidFill>
                  <a:srgbClr val="57307F"/>
                </a:solidFill>
                <a:latin typeface="Aptos"/>
              </a:rPr>
              <a:t>Trust is the goal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     Trust is the entry ticket. Confidence is the prize.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142231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✕  </a:t>
            </a:r>
            <a:r>
              <a:rPr sz="1150" b="1" i="0">
                <a:solidFill>
                  <a:srgbClr val="57307F"/>
                </a:solidFill>
                <a:latin typeface="Aptos"/>
              </a:rPr>
              <a:t>Science is the differentiator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     Everyone claims science. Proven outcomes differentiate.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791455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✕  </a:t>
            </a:r>
            <a:r>
              <a:rPr sz="1150" b="1" i="0">
                <a:solidFill>
                  <a:srgbClr val="57307F"/>
                </a:solidFill>
                <a:latin typeface="Aptos"/>
              </a:rPr>
              <a:t>Four proprietary technologies add value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     They add cost and confusion for a young brand.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5440679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✕  </a:t>
            </a:r>
            <a:r>
              <a:rPr sz="1150" b="1" i="0">
                <a:solidFill>
                  <a:srgbClr val="57307F"/>
                </a:solidFill>
                <a:latin typeface="Aptos"/>
              </a:rPr>
              <a:t>The mother is the hero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     The baby's protected skin is the hero; the parent is the winner.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TWENTY-SEVEN POINTS OF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The Brand Council in the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Every recommendation in this document was pressure-tested from three angles: </a:t>
            </a:r>
            <a:r>
              <a:rPr sz="1200" b="1" i="0">
                <a:solidFill>
                  <a:srgbClr val="57307F"/>
                </a:solidFill>
                <a:latin typeface="Aptos"/>
              </a:rPr>
              <a:t>world-class brand craft, category-specific expertise, and the behavioural science of how parents actually buy.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48840"/>
            <a:ext cx="3602736" cy="3977639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148840"/>
            <a:ext cx="3602736" cy="457200"/>
          </a:xfrm>
          <a:prstGeom prst="roundRect">
            <a:avLst>
              <a:gd name="adj" fmla="val 12000"/>
            </a:avLst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377440"/>
            <a:ext cx="3602736" cy="228600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212848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BRAND &amp; DESIGN CRAFT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7432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Pentagram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DesignStudio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Base Design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Jones Knowles Ritchie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Landor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Interbrand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Wolff Olins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Lippincott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IDEO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Apple Industrial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24528" y="2148840"/>
            <a:ext cx="3602736" cy="3977639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24528" y="2148840"/>
            <a:ext cx="3602736" cy="457200"/>
          </a:xfrm>
          <a:prstGeom prst="roundRect">
            <a:avLst>
              <a:gd name="adj" fmla="val 12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24528" y="2377440"/>
            <a:ext cx="3602736" cy="228600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8" y="2212848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CATEGORY &amp; SKIN EXPERTISE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7432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P&amp;G Baby Care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Kimberly-Clark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Unilever Baby Care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Johnson's Baby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Mustela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Sebamed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CeraVe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Dove Baby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Pediatric Dermatologists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Packaging Engineers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1856" y="2148840"/>
            <a:ext cx="3602736" cy="3977639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91856" y="2148840"/>
            <a:ext cx="3602736" cy="457200"/>
          </a:xfrm>
          <a:prstGeom prst="roundRect">
            <a:avLst>
              <a:gd name="adj" fmla="val 12000"/>
            </a:avLst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91856" y="2377440"/>
            <a:ext cx="3602736" cy="228600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4736" y="2212848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COMMERCE &amp; BEHAVIOUR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27432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Consumer Psychologists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Behavioural Economists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Information Architects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Semiotics Experts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FMCG Growth Strategists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Retail Shelf Experts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•  Amazon Marketplace Specialists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The recommendation, up front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11274552" cy="1417320"/>
          </a:xfrm>
          <a:prstGeom prst="roundRect">
            <a:avLst>
              <a:gd name="adj" fmla="val 6000"/>
            </a:avLst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3736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Reposition NikoMom from “Baby Care Expert” to </a:t>
            </a:r>
            <a:r>
              <a:rPr sz="1600" b="1" i="0">
                <a:solidFill>
                  <a:srgbClr val="FFFFFF"/>
                </a:solidFill>
                <a:latin typeface="Aptos"/>
              </a:rPr>
              <a:t>India's Baby Skin-Barrier Company</a:t>
            </a:r>
            <a:r>
              <a:rPr sz="1600" b="0" i="0">
                <a:solidFill>
                  <a:srgbClr val="FFFFFF"/>
                </a:solidFill>
                <a:latin typeface="Aptos"/>
              </a:rPr>
              <a:t> — the pharma-backed brand that </a:t>
            </a:r>
            <a:r>
              <a:rPr sz="1600" b="1" i="0">
                <a:solidFill>
                  <a:srgbClr val="FFFFFF"/>
                </a:solidFill>
                <a:latin typeface="Aptos"/>
              </a:rPr>
              <a:t>protects and builds a baby's skin barrier, and turns anxious parents into confident ones through visible proof.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1">
                <a:solidFill>
                  <a:srgbClr val="E7D8F0"/>
                </a:solidFill>
                <a:latin typeface="Aptos"/>
              </a:rPr>
              <a:t>Emotional territory owned: CONFIDENCE, not reassurance.    Signature idea: “Protection, proven.”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3602736" cy="29260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429000"/>
            <a:ext cx="457200" cy="82296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1188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D71E83"/>
                </a:solidFill>
                <a:latin typeface="Aptos Display"/>
              </a:rPr>
              <a:t>Why this wins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Backed by Panacea Biotec's pharma credibility, it claims a moat that D2C 'natural' brands (Mamaearth) and legacy players (Johnson's) cannot copy.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24528" y="3200400"/>
            <a:ext cx="3602736" cy="29260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53128" y="3429000"/>
            <a:ext cx="457200" cy="82296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8" y="361188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4775E7"/>
                </a:solidFill>
                <a:latin typeface="Aptos Display"/>
              </a:rPr>
              <a:t>What changes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4114800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One master technology (BarrierNest™) replaces four '-Nests'. Outcome &amp; proof lead the pack, not 'safe/toxin-free'. Keep the name — replace what it means.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91856" y="3200400"/>
            <a:ext cx="3602736" cy="29260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0456" y="3429000"/>
            <a:ext cx="457200" cy="82296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456" y="361188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B9F25"/>
                </a:solidFill>
                <a:latin typeface="Aptos Display"/>
              </a:rPr>
              <a:t>What it unlocks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4114800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A system — skin, bath, wipes, diapers today; first-1000-days healthcare, nutrition, subscriptions and community tomorrow — all under one science spine.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HOW TO READ THIS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Not a redesign — an integrated brand-management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361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This document runs the full five-workshop journey as one cumulative system. A single strategy — </a:t>
            </a:r>
            <a:r>
              <a:rPr sz="1200" b="1" i="0">
                <a:solidFill>
                  <a:srgbClr val="D71E83"/>
                </a:solidFill>
                <a:latin typeface="Aptos"/>
              </a:rPr>
              <a:t>“Protection, proven”</a:t>
            </a:r>
            <a:r>
              <a:rPr sz="1200" b="0" i="0">
                <a:solidFill>
                  <a:srgbClr val="454551"/>
                </a:solidFill>
                <a:latin typeface="Aptos"/>
              </a:rPr>
              <a:t> — cascades from category strategy all the way to what a parent reads on a shelf and hears in an ad. Every layer constrains the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23160"/>
            <a:ext cx="2194560" cy="214884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42316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2194560" cy="274320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487168"/>
            <a:ext cx="18653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WORKSHOP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108960"/>
            <a:ext cx="1865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71E83"/>
                </a:solidFill>
                <a:latin typeface="Aptos Display"/>
              </a:rPr>
              <a:t>Understand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520440"/>
            <a:ext cx="1865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Strategy &amp; white 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114800"/>
            <a:ext cx="186537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7307F"/>
                </a:solidFill>
                <a:latin typeface="Aptos"/>
              </a:rPr>
              <a:t>→ Baby Skin-Barrier Company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32004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D8D9DC"/>
                </a:solidFill>
                <a:latin typeface="Aptos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34056" y="2423160"/>
            <a:ext cx="2194560" cy="214884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34056" y="242316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34056" y="2697480"/>
            <a:ext cx="2194560" cy="274320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98648" y="2487168"/>
            <a:ext cx="18653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WORKSHOP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8648" y="3108960"/>
            <a:ext cx="1865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775E7"/>
                </a:solidFill>
                <a:latin typeface="Aptos Display"/>
              </a:rPr>
              <a:t>Define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8648" y="3520440"/>
            <a:ext cx="1865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Product truth &amp; claims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8648" y="4114800"/>
            <a:ext cx="186537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7307F"/>
                </a:solidFill>
                <a:latin typeface="Aptos"/>
              </a:rPr>
              <a:t>→ Claims + BarrierNest™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752" y="32004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D8D9DC"/>
                </a:solidFill>
                <a:latin typeface="Aptos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10912" y="2423160"/>
            <a:ext cx="2194560" cy="214884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10912" y="242316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10912" y="2697480"/>
            <a:ext cx="2194560" cy="274320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75503" y="2487168"/>
            <a:ext cx="18653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WORKSHOP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3108960"/>
            <a:ext cx="1865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971E1"/>
                </a:solidFill>
                <a:latin typeface="Aptos Display"/>
              </a:rPr>
              <a:t>Meaning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75503" y="3520440"/>
            <a:ext cx="1865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Voice &amp; payoff lines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5503" y="4114800"/>
            <a:ext cx="186537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7307F"/>
                </a:solidFill>
                <a:latin typeface="Aptos"/>
              </a:rPr>
              <a:t>→ Purpose, tone, endlines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0607" y="32004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D8D9DC"/>
                </a:solidFill>
                <a:latin typeface="Aptos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87767" y="2423160"/>
            <a:ext cx="2194560" cy="214884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287767" y="242316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87767" y="2697480"/>
            <a:ext cx="2194560" cy="274320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52359" y="2487168"/>
            <a:ext cx="18653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WORKSHOP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59" y="3108960"/>
            <a:ext cx="1865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79631"/>
                </a:solidFill>
                <a:latin typeface="Aptos Display"/>
              </a:rPr>
              <a:t>Translate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59" y="3520440"/>
            <a:ext cx="1865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Visual &amp; packaging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59" y="4114800"/>
            <a:ext cx="186537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7307F"/>
                </a:solidFill>
                <a:latin typeface="Aptos"/>
              </a:rPr>
              <a:t>→ Clinical-warmth 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27463" y="32004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D8D9DC"/>
                </a:solidFill>
                <a:latin typeface="Aptos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64624" y="2423160"/>
            <a:ext cx="2194560" cy="214884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564624" y="242316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64624" y="2697480"/>
            <a:ext cx="2194560" cy="274320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29215" y="2487168"/>
            <a:ext cx="18653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WORKSHOP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29215" y="3108960"/>
            <a:ext cx="1865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6B9F25"/>
                </a:solidFill>
                <a:latin typeface="Aptos Display"/>
              </a:rPr>
              <a:t>Finalise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29215" y="3520440"/>
            <a:ext cx="1865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Communication system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29215" y="4114800"/>
            <a:ext cx="186537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7307F"/>
                </a:solidFill>
                <a:latin typeface="Aptos"/>
              </a:rPr>
              <a:t>→ Channels &amp; governance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800600"/>
            <a:ext cx="11274552" cy="1234440"/>
          </a:xfrm>
          <a:prstGeom prst="roundRect">
            <a:avLst>
              <a:gd name="adj" fmla="val 6000"/>
            </a:avLst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49834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BDDF3"/>
                </a:solidFill>
                <a:latin typeface="Aptos"/>
              </a:rPr>
              <a:t>THE THREAD THAT NEVER BREAKS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3035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Strategy</a:t>
            </a:r>
            <a:r>
              <a:rPr sz="1100" b="0" i="0">
                <a:solidFill>
                  <a:srgbClr val="D9C4E8"/>
                </a:solidFill>
                <a:latin typeface="Aptos"/>
              </a:rPr>
              <a:t>  governs  </a:t>
            </a:r>
            <a:r>
              <a:rPr sz="1300" b="1" i="0">
                <a:solidFill>
                  <a:srgbClr val="FFFFFF"/>
                </a:solidFill>
                <a:latin typeface="Aptos"/>
              </a:rPr>
              <a:t>Claims</a:t>
            </a:r>
            <a:r>
              <a:rPr sz="1100" b="0" i="0">
                <a:solidFill>
                  <a:srgbClr val="D9C4E8"/>
                </a:solidFill>
                <a:latin typeface="Aptos"/>
              </a:rPr>
              <a:t>  governs  </a:t>
            </a:r>
            <a:r>
              <a:rPr sz="1300" b="1" i="0">
                <a:solidFill>
                  <a:srgbClr val="FFFFFF"/>
                </a:solidFill>
                <a:latin typeface="Aptos"/>
              </a:rPr>
              <a:t>Meaning &amp; Voice</a:t>
            </a:r>
            <a:r>
              <a:rPr sz="1100" b="0" i="0">
                <a:solidFill>
                  <a:srgbClr val="D9C4E8"/>
                </a:solidFill>
                <a:latin typeface="Aptos"/>
              </a:rPr>
              <a:t>  governs  </a:t>
            </a:r>
            <a:r>
              <a:rPr sz="1300" b="1" i="0">
                <a:solidFill>
                  <a:srgbClr val="FFFFFF"/>
                </a:solidFill>
                <a:latin typeface="Aptos"/>
              </a:rPr>
              <a:t>Design</a:t>
            </a:r>
            <a:r>
              <a:rPr sz="1100" b="0" i="0">
                <a:solidFill>
                  <a:srgbClr val="D9C4E8"/>
                </a:solidFill>
                <a:latin typeface="Aptos"/>
              </a:rPr>
              <a:t>  governs  </a:t>
            </a:r>
            <a:r>
              <a:rPr sz="1300" b="1" i="0">
                <a:solidFill>
                  <a:srgbClr val="FFFFFF"/>
                </a:solidFill>
                <a:latin typeface="Aptos"/>
              </a:rPr>
              <a:t>Communication.</a:t>
            </a:r>
            <a:r>
              <a:rPr sz="1100" b="0" i="1">
                <a:solidFill>
                  <a:srgbClr val="EBDDF3"/>
                </a:solidFill>
                <a:latin typeface="Aptos"/>
              </a:rPr>
              <a:t>   One brand, end to 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1  Understand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7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7207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Aptos"/>
              </a:rPr>
              <a:t>2  Define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74336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74336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Aptos"/>
              </a:rPr>
              <a:t>3  Meaning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41463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41463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Aptos"/>
              </a:rPr>
              <a:t>4  Translate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08591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1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Aptos"/>
              </a:rPr>
              <a:t>5  Finalise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71E83"/>
                </a:solidFill>
                <a:latin typeface="Aptos"/>
              </a:rPr>
              <a:t>WORKSHOP 1 OF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783080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57307F"/>
                </a:solidFill>
                <a:latin typeface="Aptos Display"/>
              </a:rPr>
              <a:t>Strategy &amp; Category White 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7889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D71E83"/>
                </a:solidFill>
                <a:latin typeface="Aptos"/>
              </a:rPr>
              <a:t>What kind of brand should NikoMom become — and why now?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40"/>
            <a:ext cx="10881360" cy="251460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03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ON THE AGENDA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14800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Reframe the category from first principles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Ten strategic territories, scored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Ten packaging worlds &amp; the winning feel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114800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Brand elements: keep / modify / replace / delete / invent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Naming &amp; technology architecture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Decision matrix &amp; the final 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54864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703320"/>
            <a:ext cx="1280160" cy="91440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Aptos Display"/>
              </a:rPr>
              <a:t>Category White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7492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E7DDF0"/>
                </a:solidFill>
                <a:latin typeface="Aptos"/>
              </a:rPr>
              <a:t>Redefining the opportunity from unmet human needs — not from what competitors already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9B8D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1 · CATEGORY WHITE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The category is drowning in the same word: “safe”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Scan any Indian baby-care shelf or Amazon page and the codes collapse into one message. When everyone says the same thing, the word stops selling.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48840"/>
            <a:ext cx="3611880" cy="123444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148840"/>
            <a:ext cx="82296" cy="12344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2677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7307F"/>
                </a:solidFill>
                <a:latin typeface="Aptos Display"/>
              </a:rPr>
              <a:t>Johnson's Baby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517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C8C8C"/>
                </a:solidFill>
                <a:latin typeface="Aptos"/>
              </a:rPr>
              <a:t>Owns: </a:t>
            </a:r>
            <a:r>
              <a:rPr sz="1000" b="0" i="0">
                <a:solidFill>
                  <a:srgbClr val="454551"/>
                </a:solidFill>
                <a:latin typeface="Aptos"/>
              </a:rPr>
              <a:t>Legacy trust, softness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718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D71E83"/>
                </a:solidFill>
                <a:latin typeface="Aptos"/>
              </a:rPr>
              <a:t>Gap: </a:t>
            </a:r>
            <a:r>
              <a:rPr sz="1000" b="0" i="0">
                <a:solidFill>
                  <a:srgbClr val="454551"/>
                </a:solidFill>
                <a:latin typeface="Aptos"/>
              </a:rPr>
              <a:t>Talc controversy; dated science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24528" y="2148840"/>
            <a:ext cx="3611880" cy="123444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24528" y="2148840"/>
            <a:ext cx="82296" cy="1234440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8" y="22677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7307F"/>
                </a:solidFill>
                <a:latin typeface="Aptos Display"/>
              </a:rPr>
              <a:t>Mamaearth / The Moms 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26517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C8C8C"/>
                </a:solidFill>
                <a:latin typeface="Aptos"/>
              </a:rPr>
              <a:t>Owns: </a:t>
            </a:r>
            <a:r>
              <a:rPr sz="1000" b="0" i="0">
                <a:solidFill>
                  <a:srgbClr val="454551"/>
                </a:solidFill>
                <a:latin typeface="Aptos"/>
              </a:rPr>
              <a:t>“Toxin-free”, natural, D2C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29718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D71E83"/>
                </a:solidFill>
                <a:latin typeface="Aptos"/>
              </a:rPr>
              <a:t>Gap: </a:t>
            </a:r>
            <a:r>
              <a:rPr sz="1000" b="0" i="0">
                <a:solidFill>
                  <a:srgbClr val="454551"/>
                </a:solidFill>
                <a:latin typeface="Aptos"/>
              </a:rPr>
              <a:t>Marketing-led; thin real science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1856" y="2148840"/>
            <a:ext cx="3611880" cy="123444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1856" y="2148840"/>
            <a:ext cx="82296" cy="1234440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0456" y="226771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7307F"/>
                </a:solidFill>
                <a:latin typeface="Aptos Display"/>
              </a:rPr>
              <a:t>Himalaya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6" y="26517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C8C8C"/>
                </a:solidFill>
                <a:latin typeface="Aptos"/>
              </a:rPr>
              <a:t>Owns: </a:t>
            </a:r>
            <a:r>
              <a:rPr sz="1000" b="0" i="0">
                <a:solidFill>
                  <a:srgbClr val="454551"/>
                </a:solidFill>
                <a:latin typeface="Aptos"/>
              </a:rPr>
              <a:t>Herbal / Ayurvedic heritage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0456" y="29718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D71E83"/>
                </a:solidFill>
                <a:latin typeface="Aptos"/>
              </a:rPr>
              <a:t>Gap: </a:t>
            </a:r>
            <a:r>
              <a:rPr sz="1000" b="0" i="0">
                <a:solidFill>
                  <a:srgbClr val="454551"/>
                </a:solidFill>
                <a:latin typeface="Aptos"/>
              </a:rPr>
              <a:t>Mass, low premium ceiling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566160"/>
            <a:ext cx="3611880" cy="123444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566160"/>
            <a:ext cx="82296" cy="1234440"/>
          </a:xfrm>
          <a:prstGeom prst="rect">
            <a:avLst/>
          </a:prstGeom>
          <a:solidFill>
            <a:srgbClr val="4EA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68503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7307F"/>
                </a:solidFill>
                <a:latin typeface="Aptos Display"/>
              </a:rPr>
              <a:t>Sebamed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C8C8C"/>
                </a:solidFill>
                <a:latin typeface="Aptos"/>
              </a:rPr>
              <a:t>Owns: </a:t>
            </a:r>
            <a:r>
              <a:rPr sz="1000" b="0" i="0">
                <a:solidFill>
                  <a:srgbClr val="454551"/>
                </a:solidFill>
                <a:latin typeface="Aptos"/>
              </a:rPr>
              <a:t>pH 5.5 clinical authority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38912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D71E83"/>
                </a:solidFill>
                <a:latin typeface="Aptos"/>
              </a:rPr>
              <a:t>Gap: </a:t>
            </a:r>
            <a:r>
              <a:rPr sz="1000" b="0" i="0">
                <a:solidFill>
                  <a:srgbClr val="454551"/>
                </a:solidFill>
                <a:latin typeface="Aptos"/>
              </a:rPr>
              <a:t>Cold; low emotional warmth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24528" y="3566160"/>
            <a:ext cx="3611880" cy="123444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24528" y="3566160"/>
            <a:ext cx="82296" cy="1234440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53128" y="368503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7307F"/>
                </a:solidFill>
                <a:latin typeface="Aptos Display"/>
              </a:rPr>
              <a:t>Cetaphil / CeraVe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3128" y="40690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C8C8C"/>
                </a:solidFill>
                <a:latin typeface="Aptos"/>
              </a:rPr>
              <a:t>Owns: </a:t>
            </a:r>
            <a:r>
              <a:rPr sz="1000" b="0" i="0">
                <a:solidFill>
                  <a:srgbClr val="454551"/>
                </a:solidFill>
                <a:latin typeface="Aptos"/>
              </a:rPr>
              <a:t>Dermatologist, barrier science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53128" y="438912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D71E83"/>
                </a:solidFill>
                <a:latin typeface="Aptos"/>
              </a:rPr>
              <a:t>Gap: </a:t>
            </a:r>
            <a:r>
              <a:rPr sz="1000" b="0" i="0">
                <a:solidFill>
                  <a:srgbClr val="454551"/>
                </a:solidFill>
                <a:latin typeface="Aptos"/>
              </a:rPr>
              <a:t>Adult-first; not baby-owned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91856" y="3566160"/>
            <a:ext cx="3611880" cy="123444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91856" y="3566160"/>
            <a:ext cx="82296" cy="1234440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0456" y="368503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7307F"/>
                </a:solidFill>
                <a:latin typeface="Aptos Display"/>
              </a:rPr>
              <a:t>Mustela / Chicco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0456" y="40690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C8C8C"/>
                </a:solidFill>
                <a:latin typeface="Aptos"/>
              </a:rPr>
              <a:t>Owns: </a:t>
            </a:r>
            <a:r>
              <a:rPr sz="1000" b="0" i="0">
                <a:solidFill>
                  <a:srgbClr val="454551"/>
                </a:solidFill>
                <a:latin typeface="Aptos"/>
              </a:rPr>
              <a:t>Premium French / Italian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0456" y="438912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D71E83"/>
                </a:solidFill>
                <a:latin typeface="Aptos"/>
              </a:rPr>
              <a:t>Gap: </a:t>
            </a:r>
            <a:r>
              <a:rPr sz="1000" b="0" i="0">
                <a:solidFill>
                  <a:srgbClr val="454551"/>
                </a:solidFill>
                <a:latin typeface="Aptos"/>
              </a:rPr>
              <a:t>Price; low India relevance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2120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THE PATTERN  </a:t>
            </a:r>
            <a:r>
              <a:rPr sz="1200" b="0" i="0">
                <a:solidFill>
                  <a:srgbClr val="454551"/>
                </a:solidFill>
                <a:latin typeface="Aptos"/>
              </a:rPr>
              <a:t>Natural, gentle, pH-balanced, toxin-free, dermatologically tested. Six brands, one vocabulary. </a:t>
            </a:r>
            <a:r>
              <a:rPr sz="1200" b="1" i="0">
                <a:solidFill>
                  <a:srgbClr val="57307F"/>
                </a:solidFill>
                <a:latin typeface="Aptos"/>
              </a:rPr>
              <a:t>Nobody owns the baby's skin barrier as a science platform built for Indian conditions.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1 · CATEGORY WHITE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First-principle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We asked the uncomfortable questions before proposing anything.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48840"/>
            <a:ext cx="5486400" cy="1170432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76856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71E83"/>
                </a:solidFill>
                <a:latin typeface="Aptos Display"/>
              </a:rPr>
              <a:t>Q  </a:t>
            </a:r>
            <a:r>
              <a:rPr sz="1200" b="1" i="0">
                <a:solidFill>
                  <a:srgbClr val="57307F"/>
                </a:solidFill>
                <a:latin typeface="Aptos Display"/>
              </a:rPr>
              <a:t>Does the category need another “safe” brand?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07208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→  </a:t>
            </a:r>
            <a:r>
              <a:rPr sz="1050" b="0" i="0">
                <a:solidFill>
                  <a:srgbClr val="454551"/>
                </a:solidFill>
                <a:latin typeface="Aptos"/>
              </a:rPr>
              <a:t>No. Safety is expected. Differentiation must come from proof and outcome.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2148840"/>
            <a:ext cx="5486400" cy="117043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2276856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71E83"/>
                </a:solidFill>
                <a:latin typeface="Aptos Display"/>
              </a:rPr>
              <a:t>Q  </a:t>
            </a:r>
            <a:r>
              <a:rPr sz="1200" b="1" i="0">
                <a:solidFill>
                  <a:srgbClr val="57307F"/>
                </a:solidFill>
                <a:latin typeface="Aptos Display"/>
              </a:rPr>
              <a:t>Should the hero be the parent, baby, routine or outcome?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807208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→  </a:t>
            </a:r>
            <a:r>
              <a:rPr sz="1050" b="0" i="0">
                <a:solidFill>
                  <a:srgbClr val="454551"/>
                </a:solidFill>
                <a:latin typeface="Aptos"/>
              </a:rPr>
              <a:t>The outcome (protected, healthy skin). The parent is the winner, not the subject.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47288"/>
            <a:ext cx="5486400" cy="1170432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575304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71E83"/>
                </a:solidFill>
                <a:latin typeface="Aptos Display"/>
              </a:rPr>
              <a:t>Q  </a:t>
            </a:r>
            <a:r>
              <a:rPr sz="1200" b="1" i="0">
                <a:solidFill>
                  <a:srgbClr val="57307F"/>
                </a:solidFill>
                <a:latin typeface="Aptos Display"/>
              </a:rPr>
              <a:t>Is “trust” enough?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05656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→  </a:t>
            </a:r>
            <a:r>
              <a:rPr sz="1050" b="0" i="0">
                <a:solidFill>
                  <a:srgbClr val="454551"/>
                </a:solidFill>
                <a:latin typeface="Aptos"/>
              </a:rPr>
              <a:t>Trust gets you considered. Confidence — “I know I'm doing it right” — gets you chosen and repeated.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9904" y="3447288"/>
            <a:ext cx="5486400" cy="117043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3575304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71E83"/>
                </a:solidFill>
                <a:latin typeface="Aptos Display"/>
              </a:rPr>
              <a:t>Q  </a:t>
            </a:r>
            <a:r>
              <a:rPr sz="1200" b="1" i="0">
                <a:solidFill>
                  <a:srgbClr val="57307F"/>
                </a:solidFill>
                <a:latin typeface="Aptos Display"/>
              </a:rPr>
              <a:t>Does science create differentiation, or does confidence?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4105656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→  </a:t>
            </a:r>
            <a:r>
              <a:rPr sz="1050" b="0" i="0">
                <a:solidFill>
                  <a:srgbClr val="454551"/>
                </a:solidFill>
                <a:latin typeface="Aptos"/>
              </a:rPr>
              <a:t>Science is the reason to believe. Confidence is the reason to buy. We sell confidence, proven by science.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745736"/>
            <a:ext cx="5486400" cy="1170432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873751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71E83"/>
                </a:solidFill>
                <a:latin typeface="Aptos Display"/>
              </a:rPr>
              <a:t>Q  </a:t>
            </a:r>
            <a:r>
              <a:rPr sz="1200" b="1" i="0">
                <a:solidFill>
                  <a:srgbClr val="57307F"/>
                </a:solidFill>
                <a:latin typeface="Aptos Display"/>
              </a:rPr>
              <a:t>Is “gentle / toxin-free” ownable?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404103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→  </a:t>
            </a:r>
            <a:r>
              <a:rPr sz="1050" b="0" i="0">
                <a:solidFill>
                  <a:srgbClr val="454551"/>
                </a:solidFill>
                <a:latin typeface="Aptos"/>
              </a:rPr>
              <a:t>No — legally claimable by all, owned by none. A barrier-science platform is ownable.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9904" y="4745736"/>
            <a:ext cx="5486400" cy="117043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4873751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71E83"/>
                </a:solidFill>
                <a:latin typeface="Aptos Display"/>
              </a:rPr>
              <a:t>Q  </a:t>
            </a:r>
            <a:r>
              <a:rPr sz="1200" b="1" i="0">
                <a:solidFill>
                  <a:srgbClr val="57307F"/>
                </a:solidFill>
                <a:latin typeface="Aptos Display"/>
              </a:rPr>
              <a:t>What mental shortcut is the parent searching for?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5404103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→  </a:t>
            </a:r>
            <a:r>
              <a:rPr sz="1050" b="0" i="0">
                <a:solidFill>
                  <a:srgbClr val="454551"/>
                </a:solidFill>
                <a:latin typeface="Aptos"/>
              </a:rPr>
              <a:t>“Which brand actually understands my baby's skin — not just markets to me?”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1 · CATEGORY WHITE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The real unmet need: anxiety, not dirt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Indian parents — especially first-time, urban, digitally-informed — are not short of “safe products.” They are short of </a:t>
            </a:r>
            <a:r>
              <a:rPr sz="1200" b="1" i="0">
                <a:solidFill>
                  <a:srgbClr val="D71E83"/>
                </a:solidFill>
                <a:latin typeface="Aptos"/>
              </a:rPr>
              <a:t>confidence.</a:t>
            </a:r>
            <a:r>
              <a:rPr sz="1200" b="0" i="0">
                <a:solidFill>
                  <a:srgbClr val="454551"/>
                </a:solidFill>
                <a:latin typeface="Aptos"/>
              </a:rPr>
              <a:t> They are anxious, over-Googled, guilt-prone, and unsure whether they are protecting their baby correctly.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517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8C8C8C"/>
                </a:solidFill>
                <a:latin typeface="Aptos"/>
              </a:rPr>
              <a:t>WHAT THE CATEGORY SELLS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63240"/>
            <a:ext cx="49377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54551"/>
                </a:solidFill>
                <a:latin typeface="Aptos"/>
              </a:rPr>
              <a:t>–  “Gentle &amp; safe” — removes a fear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54551"/>
                </a:solidFill>
                <a:latin typeface="Aptos"/>
              </a:rPr>
              <a:t>–  Products, bought one at a time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54551"/>
                </a:solidFill>
                <a:latin typeface="Aptos"/>
              </a:rPr>
              <a:t>–  Reassurance: “don't worry”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54551"/>
                </a:solidFill>
                <a:latin typeface="Aptos"/>
              </a:rPr>
              <a:t>–  The mother's love as the proof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54551"/>
                </a:solidFill>
                <a:latin typeface="Aptos"/>
              </a:rPr>
              <a:t>–  Ingredients lists as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46888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6517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WHAT THE PARENT ACTUALLY WANTS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63240"/>
            <a:ext cx="49377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57307F"/>
                </a:solidFill>
                <a:latin typeface="Aptos"/>
              </a:rPr>
              <a:t>+  “Am I doing this right?” answered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57307F"/>
                </a:solidFill>
                <a:latin typeface="Aptos"/>
              </a:rPr>
              <a:t>+  A system that guides the whole routine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57307F"/>
                </a:solidFill>
                <a:latin typeface="Aptos"/>
              </a:rPr>
              <a:t>+  Confidence: “you've got this — here's proof”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57307F"/>
                </a:solidFill>
                <a:latin typeface="Aptos"/>
              </a:rPr>
              <a:t>+  The baby's visible outcome as the proof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57307F"/>
                </a:solidFill>
                <a:latin typeface="Aptos"/>
              </a:rPr>
              <a:t>+  Seeing the result on their own baby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1 · CATEGORY WHITE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The white space we will 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11274552" cy="1371600"/>
          </a:xfrm>
          <a:prstGeom prst="roundRect">
            <a:avLst>
              <a:gd name="adj" fmla="val 6000"/>
            </a:avLst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55648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Aptos Display"/>
              </a:rPr>
              <a:t>The Baby Skin-Barrier Company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BDDF3"/>
                </a:solidFill>
                <a:latin typeface="Aptos"/>
              </a:rPr>
              <a:t>The skin barrier is a baby's first line of defence — its first immune system. We are the pharma-backed brand that protects and builds it, and proves it. </a:t>
            </a:r>
            <a:r>
              <a:rPr sz="1300" b="1" i="0">
                <a:solidFill>
                  <a:srgbClr val="FFFFFF"/>
                </a:solidFill>
                <a:latin typeface="Aptos"/>
              </a:rPr>
              <a:t>Protection, proven.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08960"/>
            <a:ext cx="2706624" cy="297180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3310128"/>
            <a:ext cx="457200" cy="73152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47472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D71E83"/>
                </a:solidFill>
                <a:latin typeface="Aptos Display"/>
              </a:rPr>
              <a:t>Unmet need it solves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114800"/>
            <a:ext cx="2331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Parental anxiety — the fear of getting it wrong. We convert it into earned confidence.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82696" y="3108960"/>
            <a:ext cx="2706624" cy="297180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83864" y="3310128"/>
            <a:ext cx="457200" cy="73152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83864" y="347472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775E7"/>
                </a:solidFill>
                <a:latin typeface="Aptos Display"/>
              </a:rPr>
              <a:t>Emotion it owns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3864" y="4114800"/>
            <a:ext cx="2331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Confidence &amp; control, not soft reassurance. Calm competence.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08192" y="3108960"/>
            <a:ext cx="2706624" cy="297180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59" y="3310128"/>
            <a:ext cx="457200" cy="73152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347472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B9F25"/>
                </a:solidFill>
                <a:latin typeface="Aptos Display"/>
              </a:rPr>
              <a:t>Why it can't be copied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4114800"/>
            <a:ext cx="2331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Requires real pharma R&amp;D + India-specific barrier data. D2C 'natural' and legacy brands lack both.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33688" y="3108960"/>
            <a:ext cx="2706624" cy="297180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34856" y="3310128"/>
            <a:ext cx="457200" cy="73152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4856" y="347472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79631"/>
                </a:solidFill>
                <a:latin typeface="Aptos Display"/>
              </a:rPr>
              <a:t>The mental shortcut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4856" y="4114800"/>
            <a:ext cx="2331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“The science company for my baby's skin.” One idea, instantly filed.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44768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D71E83"/>
                </a:solidFill>
                <a:latin typeface="Aptos"/>
              </a:rPr>
              <a:t>Not a leap — a sharpening.  </a:t>
            </a:r>
            <a:r>
              <a:rPr sz="1050" b="0" i="0">
                <a:solidFill>
                  <a:srgbClr val="454551"/>
                </a:solidFill>
                <a:latin typeface="Aptos"/>
              </a:rPr>
              <a:t>“Protecting the skin barrier” already sits inside your current brand foundation — buried as one bullet among five. We make it the spine.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1 · CATEGORY WHITE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Baby care in 2035 — and the category NikoMom can 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The product is the entry point, not the endgame. The winning brands of 2035 will be </a:t>
            </a:r>
            <a:r>
              <a:rPr sz="1200" b="1" i="0">
                <a:solidFill>
                  <a:srgbClr val="57307F"/>
                </a:solidFill>
                <a:latin typeface="Aptos"/>
              </a:rPr>
              <a:t>connected preventive-health systems for the first 1000 days,</a:t>
            </a:r>
            <a:r>
              <a:rPr sz="1200" b="0" i="0">
                <a:solidFill>
                  <a:srgbClr val="454551"/>
                </a:solidFill>
                <a:latin typeface="Aptos"/>
              </a:rPr>
              <a:t> not shelves of bottles.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4884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148840"/>
            <a:ext cx="3611880" cy="82296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04872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From products → to a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0896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A connected routine, not disconnected SKUs.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4528" y="214884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24528" y="2148840"/>
            <a:ext cx="3611880" cy="82296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2404872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From reactive → to preventive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310896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Protect the barrier before rash, dryness, infection.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214884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91856" y="2148840"/>
            <a:ext cx="3611880" cy="82296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404872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From generic → to India-specific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310896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Built for Indian climate, water, pollution, skin.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02336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023360"/>
            <a:ext cx="3611880" cy="82296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279392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From selling → to guiding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98348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A daily companion (WhatsApp/app) that coaches parents.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24528" y="402336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24528" y="4023360"/>
            <a:ext cx="3611880" cy="82296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3128" y="4279392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From skin → to wellbeing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498348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Skin, sleep, nutrition, development — one platform.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91856" y="402336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91856" y="4023360"/>
            <a:ext cx="3611880" cy="82296"/>
          </a:xfrm>
          <a:prstGeom prst="rect">
            <a:avLst/>
          </a:prstGeom>
          <a:solidFill>
            <a:srgbClr val="4EA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0456" y="4279392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From transaction → to subscription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498348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Refills, growth-stage kits, membership, community.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THE CATEGORY TO CREATE   </a:t>
            </a:r>
            <a:r>
              <a:rPr sz="1200" b="1" i="0">
                <a:solidFill>
                  <a:srgbClr val="57307F"/>
                </a:solidFill>
                <a:latin typeface="Aptos"/>
              </a:rPr>
              <a:t>“Baby Skin-Barrier Protection” — preventive, science-led, made for India, delivered as a system.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54864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703320"/>
            <a:ext cx="1280160" cy="91440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Aptos Display"/>
              </a:rPr>
              <a:t>Strategic Territories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7492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E7DDF0"/>
                </a:solidFill>
                <a:latin typeface="Aptos"/>
              </a:rPr>
              <a:t>Ten radically different brand worlds. Each solves a human need, owns an emotion, and resists copying.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9B8D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2 · STRATEGIC TERRITORIES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Ten territories on the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2103120"/>
            <a:ext cx="2121408" cy="1783080"/>
          </a:xfrm>
          <a:prstGeom prst="roundRect">
            <a:avLst>
              <a:gd name="adj" fmla="val 9000"/>
            </a:avLst>
          </a:prstGeom>
          <a:solidFill>
            <a:srgbClr val="FBEAF3"/>
          </a:solidFill>
          <a:ln w="12700">
            <a:solidFill>
              <a:srgbClr val="D71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23113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71E83"/>
                </a:solidFill>
                <a:latin typeface="Aptos Display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2249424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Aptos"/>
              </a:rPr>
              <a:t>SHORTLIST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606039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7307F"/>
                </a:solidFill>
                <a:latin typeface="Aptos Display"/>
              </a:rPr>
              <a:t>Skin-Barrier Company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2004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54551"/>
                </a:solidFill>
                <a:latin typeface="Aptos"/>
              </a:rPr>
              <a:t>The barrier = first defence. Own barrier science.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2103120"/>
            <a:ext cx="2121408" cy="1783080"/>
          </a:xfrm>
          <a:prstGeom prst="roundRect">
            <a:avLst>
              <a:gd name="adj" fmla="val 9000"/>
            </a:avLst>
          </a:prstGeom>
          <a:solidFill>
            <a:srgbClr val="FBEAF3"/>
          </a:solidFill>
          <a:ln w="12700">
            <a:solidFill>
              <a:srgbClr val="477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62072" y="223113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775E7"/>
                </a:solidFill>
                <a:latin typeface="Aptos Display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2249424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Aptos"/>
              </a:rPr>
              <a:t>SHORTLIST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2072" y="2606039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7307F"/>
                </a:solidFill>
                <a:latin typeface="Aptos Display"/>
              </a:rPr>
              <a:t>Protection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2" y="32004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54551"/>
                </a:solidFill>
                <a:latin typeface="Aptos"/>
              </a:rPr>
              <a:t>Invisible, always-on, adaptive protection.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2103120"/>
            <a:ext cx="2121408" cy="1783080"/>
          </a:xfrm>
          <a:prstGeom prst="roundRect">
            <a:avLst>
              <a:gd name="adj" fmla="val 9000"/>
            </a:avLst>
          </a:prstGeom>
          <a:solidFill>
            <a:srgbClr val="FBEAF3"/>
          </a:solidFill>
          <a:ln w="12700">
            <a:solidFill>
              <a:srgbClr val="897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223113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971E1"/>
                </a:solidFill>
                <a:latin typeface="Aptos Display"/>
              </a:rP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2249424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Aptos"/>
              </a:rPr>
              <a:t>SHORTLIST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2352" y="2606039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7307F"/>
                </a:solidFill>
                <a:latin typeface="Aptos Display"/>
              </a:rPr>
              <a:t>First 1000 Days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2352" y="32004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54551"/>
                </a:solidFill>
                <a:latin typeface="Aptos"/>
              </a:rPr>
              <a:t>Own the early-development window end to end.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040" y="2103120"/>
            <a:ext cx="2121408" cy="1783080"/>
          </a:xfrm>
          <a:prstGeom prst="roundRect">
            <a:avLst>
              <a:gd name="adj" fmla="val 9000"/>
            </a:avLst>
          </a:prstGeom>
          <a:solidFill>
            <a:srgbClr val="FBEAF3"/>
          </a:solidFill>
          <a:ln w="12700">
            <a:solidFill>
              <a:srgbClr val="F796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42632" y="223113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79631"/>
                </a:solidFill>
                <a:latin typeface="Aptos Display"/>
              </a:rP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2249424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Aptos"/>
              </a:rPr>
              <a:t>SHORTLIST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2632" y="2606039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7307F"/>
                </a:solidFill>
                <a:latin typeface="Aptos Display"/>
              </a:rPr>
              <a:t>Indian Baby Science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42632" y="32004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54551"/>
                </a:solidFill>
                <a:latin typeface="Aptos"/>
              </a:rPr>
              <a:t>Built for Indian climate, water, pollution, skin.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8320" y="2103120"/>
            <a:ext cx="2121408" cy="1783080"/>
          </a:xfrm>
          <a:prstGeom prst="roundRect">
            <a:avLst>
              <a:gd name="adj" fmla="val 9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82912" y="223113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6B9F25"/>
                </a:solidFill>
                <a:latin typeface="Aptos Display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2912" y="2606039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7307F"/>
                </a:solidFill>
                <a:latin typeface="Aptos Display"/>
              </a:rPr>
              <a:t>Parent-Confidence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2912" y="32004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54551"/>
                </a:solidFill>
                <a:latin typeface="Aptos"/>
              </a:rPr>
              <a:t>Sell confidence &amp; competence, not products.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069079"/>
            <a:ext cx="2121408" cy="1783080"/>
          </a:xfrm>
          <a:prstGeom prst="roundRect">
            <a:avLst>
              <a:gd name="adj" fmla="val 9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4197095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6DC"/>
                </a:solidFill>
                <a:latin typeface="Aptos Display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571999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7307F"/>
                </a:solidFill>
                <a:latin typeface="Aptos Display"/>
              </a:rPr>
              <a:t>Daily Rituals / Calm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166359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54551"/>
                </a:solidFill>
                <a:latin typeface="Aptos"/>
              </a:rPr>
              <a:t>Turn routines into calm, bonding rituals.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97480" y="4069079"/>
            <a:ext cx="2121408" cy="1783080"/>
          </a:xfrm>
          <a:prstGeom prst="roundRect">
            <a:avLst>
              <a:gd name="adj" fmla="val 9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62072" y="4197095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71E83"/>
                </a:solidFill>
                <a:latin typeface="Aptos Display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62072" y="4571999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7307F"/>
                </a:solidFill>
                <a:latin typeface="Aptos Display"/>
              </a:rPr>
              <a:t>Preventive Baby Care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62072" y="5166359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54551"/>
                </a:solidFill>
                <a:latin typeface="Aptos"/>
              </a:rPr>
              <a:t>Prevention over treatment; pharma-grade.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37760" y="4069079"/>
            <a:ext cx="2121408" cy="1783080"/>
          </a:xfrm>
          <a:prstGeom prst="roundRect">
            <a:avLst>
              <a:gd name="adj" fmla="val 9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02352" y="4197095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7307F"/>
                </a:solidFill>
                <a:latin typeface="Aptos Display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02352" y="4571999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7307F"/>
                </a:solidFill>
                <a:latin typeface="Aptos Display"/>
              </a:rPr>
              <a:t>Invisible Care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2352" y="5166359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54551"/>
                </a:solidFill>
                <a:latin typeface="Aptos"/>
              </a:rPr>
              <a:t>Care that disappears — no fear-marketing.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78040" y="4069079"/>
            <a:ext cx="2121408" cy="1783080"/>
          </a:xfrm>
          <a:prstGeom prst="roundRect">
            <a:avLst>
              <a:gd name="adj" fmla="val 9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42632" y="4197095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775E7"/>
                </a:solidFill>
                <a:latin typeface="Aptos Display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42632" y="4571999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7307F"/>
                </a:solidFill>
                <a:latin typeface="Aptos Display"/>
              </a:rPr>
              <a:t>Pediatric-Grade at Home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42632" y="5166359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54551"/>
                </a:solidFill>
                <a:latin typeface="Aptos"/>
              </a:rPr>
              <a:t>Hospital-grade standards for the home.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18320" y="4069079"/>
            <a:ext cx="2121408" cy="1783080"/>
          </a:xfrm>
          <a:prstGeom prst="roundRect">
            <a:avLst>
              <a:gd name="adj" fmla="val 9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82912" y="4197095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6B9F25"/>
                </a:solidFill>
                <a:latin typeface="Aptos Display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82912" y="4571999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7307F"/>
                </a:solidFill>
                <a:latin typeface="Aptos Display"/>
              </a:rPr>
              <a:t>Baby Skin Intelligence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82912" y="5166359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54551"/>
                </a:solidFill>
                <a:latin typeface="Aptos"/>
              </a:rPr>
              <a:t>Data + product that adapts as baby grows.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8C8C8C"/>
                </a:solidFill>
                <a:latin typeface="Aptos"/>
              </a:rPr>
              <a:t>Four carried into the decision matrix (highlighted). The rest were rejected early — reasons on the matrix and rejection slides.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2 · STRATEGIC TERRITORIES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Territories in depth — the front-runners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5486400" cy="45262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554480"/>
            <a:ext cx="5486400" cy="640080"/>
          </a:xfrm>
          <a:prstGeom prst="roundRect">
            <a:avLst>
              <a:gd name="adj" fmla="val 6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874519"/>
            <a:ext cx="5486400" cy="320040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66420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 Display"/>
              </a:rPr>
              <a:t>01   Skin-Barrier Company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377440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D71E83"/>
                </a:solidFill>
                <a:latin typeface="Aptos"/>
              </a:rPr>
              <a:t>WHY IT EXISTS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The skin barrier is a baby's first immune system; no brand owns it as a platform.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108960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D71E83"/>
                </a:solidFill>
                <a:latin typeface="Aptos"/>
              </a:rPr>
              <a:t>HUMAN NEED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Protect my baby from the outside world — rash, dryness, infection, irritation.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40480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D71E83"/>
                </a:solidFill>
                <a:latin typeface="Aptos"/>
              </a:rPr>
              <a:t>EMOTION OWNED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Confidence through protection. Calm competence.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D71E83"/>
                </a:solidFill>
                <a:latin typeface="Aptos"/>
              </a:rPr>
              <a:t>WHY HARD TO COPY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Needs genuine pharma R&amp;D + India barrier data. Natural/legacy brands lack the credibility.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03520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D71E83"/>
                </a:solidFill>
                <a:latin typeface="Aptos"/>
              </a:rPr>
              <a:t>HOW IT SCALES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Every SKU is a barrier act: cleanse, protect, repair, seal — skin, bath, diaper, wipes.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1554480"/>
            <a:ext cx="5486400" cy="45262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45352" y="1554480"/>
            <a:ext cx="5486400" cy="640080"/>
          </a:xfrm>
          <a:prstGeom prst="roundRect">
            <a:avLst>
              <a:gd name="adj" fmla="val 6000"/>
            </a:avLst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5352" y="1874519"/>
            <a:ext cx="5486400" cy="320040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166420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 Display"/>
              </a:rPr>
              <a:t>02   Protection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2377440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775E7"/>
                </a:solidFill>
                <a:latin typeface="Aptos"/>
              </a:rPr>
              <a:t>WHY IT EXISTS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Reframe care as an intelligent, invisible, always-on protection system.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108960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775E7"/>
                </a:solidFill>
                <a:latin typeface="Aptos"/>
              </a:rPr>
              <a:t>HUMAN NEED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I want protection I don't have to think about — that adapts to my baby.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840480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775E7"/>
                </a:solidFill>
                <a:latin typeface="Aptos"/>
              </a:rPr>
              <a:t>EMOTION OWNED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Control and modern confidence. Tech-grade reassurance.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572000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775E7"/>
                </a:solidFill>
                <a:latin typeface="Aptos"/>
              </a:rPr>
              <a:t>WHY HARD TO COPY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Fuses science + design + data language few FMCG brands can hold credibly.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5303520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775E7"/>
                </a:solidFill>
                <a:latin typeface="Aptos"/>
              </a:rPr>
              <a:t>HOW IT SCALES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Scales from packs to app, sensors, subscriptions, personalised routines.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2 · STRATEGIC TERRITORIES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Territories in depth — the front-runners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5486400" cy="45262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554480"/>
            <a:ext cx="5486400" cy="640080"/>
          </a:xfrm>
          <a:prstGeom prst="roundRect">
            <a:avLst>
              <a:gd name="adj" fmla="val 6000"/>
            </a:avLst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874519"/>
            <a:ext cx="5486400" cy="320040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66420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 Display"/>
              </a:rPr>
              <a:t>03   First 1000 Days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377440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8971E1"/>
                </a:solidFill>
                <a:latin typeface="Aptos"/>
              </a:rPr>
              <a:t>WHY IT EXISTS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The 1000-day window (conception–age 2) is the most consequential in human development.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108960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8971E1"/>
                </a:solidFill>
                <a:latin typeface="Aptos"/>
              </a:rPr>
              <a:t>HUMAN NEED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Give my baby the best possible start — across skin, sleep, nutrition, growth.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40480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8971E1"/>
                </a:solidFill>
                <a:latin typeface="Aptos"/>
              </a:rPr>
              <a:t>EMOTION OWNED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Purpose and hope. Long-horizon parental love.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8971E1"/>
                </a:solidFill>
                <a:latin typeface="Aptos"/>
              </a:rPr>
              <a:t>WHY HARD TO COPY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Panacea's healthcare + nutrition breadth lets it own a window pure-play cosmetics can't.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03520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8971E1"/>
                </a:solidFill>
                <a:latin typeface="Aptos"/>
              </a:rPr>
              <a:t>HOW IT SCALES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Broadest runway: skin → nutrition → healthcare → community → digital tracking.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1554480"/>
            <a:ext cx="5486400" cy="45262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45352" y="1554480"/>
            <a:ext cx="5486400" cy="640080"/>
          </a:xfrm>
          <a:prstGeom prst="roundRect">
            <a:avLst>
              <a:gd name="adj" fmla="val 6000"/>
            </a:avLst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5352" y="1874519"/>
            <a:ext cx="5486400" cy="320040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166420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 Display"/>
              </a:rPr>
              <a:t>04   Indian Baby Science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2377440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79631"/>
                </a:solidFill>
                <a:latin typeface="Aptos"/>
              </a:rPr>
              <a:t>WHY IT EXISTS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Global formulas ignore Indian heat, humidity, hard water, pollution and skin tones.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108960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79631"/>
                </a:solidFill>
                <a:latin typeface="Aptos"/>
              </a:rPr>
              <a:t>HUMAN NEED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Give me care actually built for my baby's real environment, not a foreign one.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840480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79631"/>
                </a:solidFill>
                <a:latin typeface="Aptos"/>
              </a:rPr>
              <a:t>EMOTION OWNED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Pride and relevance. “Finally, made for us.”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572000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79631"/>
                </a:solidFill>
                <a:latin typeface="Aptos"/>
              </a:rPr>
              <a:t>WHY HARD TO COPY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Deep local R&amp;D + Panacea's Indian scale; imports and D2C can't match the data.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5303520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79631"/>
                </a:solidFill>
                <a:latin typeface="Aptos"/>
              </a:rPr>
              <a:t>HOW IT SCALES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A lens over every product and claim; powerful in India, exportable to similar climates.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2 · STRATEGIC TERRITORIES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Why these four — and how they combine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The four front-runners are not rivals — they nest. </a:t>
            </a:r>
            <a:r>
              <a:rPr sz="1200" b="1" i="0">
                <a:solidFill>
                  <a:srgbClr val="D71E83"/>
                </a:solidFill>
                <a:latin typeface="Aptos"/>
              </a:rPr>
              <a:t>Skin-Barrier Science</a:t>
            </a:r>
            <a:r>
              <a:rPr sz="1200" b="0" i="0">
                <a:solidFill>
                  <a:srgbClr val="454551"/>
                </a:solidFill>
                <a:latin typeface="Aptos"/>
              </a:rPr>
              <a:t> is the </a:t>
            </a:r>
            <a:r>
              <a:rPr sz="1200" b="1" i="0">
                <a:solidFill>
                  <a:srgbClr val="57307F"/>
                </a:solidFill>
                <a:latin typeface="Aptos"/>
              </a:rPr>
              <a:t>what</a:t>
            </a:r>
            <a:r>
              <a:rPr sz="1200" b="0" i="0">
                <a:solidFill>
                  <a:srgbClr val="454551"/>
                </a:solidFill>
                <a:latin typeface="Aptos"/>
              </a:rPr>
              <a:t>;  </a:t>
            </a:r>
            <a:r>
              <a:rPr sz="1200" b="1" i="0">
                <a:solidFill>
                  <a:srgbClr val="4775E7"/>
                </a:solidFill>
                <a:latin typeface="Aptos"/>
              </a:rPr>
              <a:t>Protection Intelligence</a:t>
            </a:r>
            <a:r>
              <a:rPr sz="1200" b="0" i="0">
                <a:solidFill>
                  <a:srgbClr val="454551"/>
                </a:solidFill>
                <a:latin typeface="Aptos"/>
              </a:rPr>
              <a:t> is the </a:t>
            </a:r>
            <a:r>
              <a:rPr sz="1200" b="1" i="0">
                <a:solidFill>
                  <a:srgbClr val="57307F"/>
                </a:solidFill>
                <a:latin typeface="Aptos"/>
              </a:rPr>
              <a:t>how it feels</a:t>
            </a:r>
            <a:r>
              <a:rPr sz="1200" b="0" i="0">
                <a:solidFill>
                  <a:srgbClr val="454551"/>
                </a:solidFill>
                <a:latin typeface="Aptos"/>
              </a:rPr>
              <a:t>;  </a:t>
            </a:r>
            <a:r>
              <a:rPr sz="1200" b="1" i="0">
                <a:solidFill>
                  <a:srgbClr val="F79631"/>
                </a:solidFill>
                <a:latin typeface="Aptos"/>
              </a:rPr>
              <a:t>Indian Baby Science</a:t>
            </a:r>
            <a:r>
              <a:rPr sz="1200" b="0" i="0">
                <a:solidFill>
                  <a:srgbClr val="454551"/>
                </a:solidFill>
                <a:latin typeface="Aptos"/>
              </a:rPr>
              <a:t> is the </a:t>
            </a:r>
            <a:r>
              <a:rPr sz="1200" b="1" i="0">
                <a:solidFill>
                  <a:srgbClr val="57307F"/>
                </a:solidFill>
                <a:latin typeface="Aptos"/>
              </a:rPr>
              <a:t>proof of relevance</a:t>
            </a:r>
            <a:r>
              <a:rPr sz="1200" b="0" i="0">
                <a:solidFill>
                  <a:srgbClr val="454551"/>
                </a:solidFill>
                <a:latin typeface="Aptos"/>
              </a:rPr>
              <a:t>;  </a:t>
            </a:r>
            <a:r>
              <a:rPr sz="1200" b="1" i="0">
                <a:solidFill>
                  <a:srgbClr val="8971E1"/>
                </a:solidFill>
                <a:latin typeface="Aptos"/>
              </a:rPr>
              <a:t>First 1000 Days</a:t>
            </a:r>
            <a:r>
              <a:rPr sz="1200" b="0" i="0">
                <a:solidFill>
                  <a:srgbClr val="454551"/>
                </a:solidFill>
                <a:latin typeface="Aptos"/>
              </a:rPr>
              <a:t> is the </a:t>
            </a:r>
            <a:r>
              <a:rPr sz="1200" b="1" i="0">
                <a:solidFill>
                  <a:srgbClr val="57307F"/>
                </a:solidFill>
                <a:latin typeface="Aptos"/>
              </a:rPr>
              <a:t>growth runway.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77440"/>
            <a:ext cx="11274552" cy="1234440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42032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D71E83"/>
                </a:solidFill>
                <a:latin typeface="Aptos"/>
              </a:rPr>
              <a:t>THE SYNTHESIS   </a:t>
            </a:r>
            <a:r>
              <a:rPr sz="1500" b="1" i="0">
                <a:solidFill>
                  <a:srgbClr val="57307F"/>
                </a:solidFill>
                <a:latin typeface="Aptos Display"/>
              </a:rPr>
              <a:t>“The Baby Skin-Barrier Company — protection intelligence, built for India, for the first 1000 days.”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A defensible core (barrier science) with a broad runway (the 1000-day system) and a credible moat (Indian data + Panacea pharma).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947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8C8C8C"/>
                </a:solidFill>
                <a:latin typeface="Aptos"/>
              </a:rPr>
              <a:t>CARRIED AS INGREDIENTS, NOT AS THE 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5486400" cy="82296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224528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7307F"/>
                </a:solidFill>
                <a:latin typeface="Aptos"/>
              </a:rPr>
              <a:t>Parent-Confidence Platform  </a:t>
            </a:r>
            <a:r>
              <a:rPr sz="1050" b="0" i="0">
                <a:solidFill>
                  <a:srgbClr val="454551"/>
                </a:solidFill>
                <a:latin typeface="Aptos"/>
              </a:rPr>
              <a:t>— Right emotion, but it's an outcome of barrier science — folded in, not a separate territory.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4114800"/>
            <a:ext cx="5486400" cy="82296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4224528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7307F"/>
                </a:solidFill>
                <a:latin typeface="Aptos"/>
              </a:rPr>
              <a:t>Daily Rituals / Calm  </a:t>
            </a:r>
            <a:r>
              <a:rPr sz="1050" b="0" i="0">
                <a:solidFill>
                  <a:srgbClr val="454551"/>
                </a:solidFill>
                <a:latin typeface="Aptos"/>
              </a:rPr>
              <a:t>— Warm but soft; loses the science moat that only Panacea can own.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029200"/>
            <a:ext cx="5486400" cy="82296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138928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7307F"/>
                </a:solidFill>
                <a:latin typeface="Aptos"/>
              </a:rPr>
              <a:t>Invisible Care  </a:t>
            </a:r>
            <a:r>
              <a:rPr sz="1050" b="0" i="0">
                <a:solidFill>
                  <a:srgbClr val="454551"/>
                </a:solidFill>
                <a:latin typeface="Aptos"/>
              </a:rPr>
              <a:t>— Elegant, but too quiet for shelf/Amazon shout-through in a value-conscious market.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9904" y="5029200"/>
            <a:ext cx="5486400" cy="82296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5138928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7307F"/>
                </a:solidFill>
                <a:latin typeface="Aptos"/>
              </a:rPr>
              <a:t>Pediatric-Grade at Home  </a:t>
            </a:r>
            <a:r>
              <a:rPr sz="1050" b="0" i="0">
                <a:solidFill>
                  <a:srgbClr val="454551"/>
                </a:solidFill>
                <a:latin typeface="Aptos"/>
              </a:rPr>
              <a:t>— Strong RTB, weak as a whole-brand idea; becomes a proof pillar instead.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4EA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54864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703320"/>
            <a:ext cx="1280160" cy="91440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Aptos Display"/>
              </a:rPr>
              <a:t>Packaging Worlds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7492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E7DDF0"/>
                </a:solidFill>
                <a:latin typeface="Aptos"/>
              </a:rPr>
              <a:t>Ten visual worlds. We define what the parent should feel and understand — not labels.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9B8D8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3 · PACKAGING WORLDS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Ten packaging worlds — what should the parent feel?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2103120"/>
            <a:ext cx="2121408" cy="181051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2121408" cy="457200"/>
          </a:xfrm>
          <a:prstGeom prst="roundRect">
            <a:avLst>
              <a:gd name="adj" fmla="val 10000"/>
            </a:avLst>
          </a:prstGeom>
          <a:solidFill>
            <a:srgbClr val="4EA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2121408" cy="228600"/>
          </a:xfrm>
          <a:prstGeom prst="rect">
            <a:avLst/>
          </a:prstGeom>
          <a:solidFill>
            <a:srgbClr val="4EA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157984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tos Display"/>
              </a:rPr>
              <a:t>Clinical Science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5176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EA6DC"/>
                </a:solidFill>
                <a:latin typeface="Aptos"/>
              </a:rPr>
              <a:t>Feel: </a:t>
            </a:r>
            <a:r>
              <a:rPr sz="900" b="0" i="0">
                <a:solidFill>
                  <a:srgbClr val="454551"/>
                </a:solidFill>
                <a:latin typeface="Aptos"/>
              </a:rPr>
              <a:t>Trust via rigour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154679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EA6DC"/>
                </a:solidFill>
                <a:latin typeface="Aptos"/>
              </a:rPr>
              <a:t>Cue: </a:t>
            </a:r>
            <a:r>
              <a:rPr sz="900" b="0" i="0">
                <a:solidFill>
                  <a:srgbClr val="454551"/>
                </a:solidFill>
                <a:latin typeface="Aptos"/>
              </a:rPr>
              <a:t>White, data, proof marks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2103120"/>
            <a:ext cx="2121408" cy="181051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97480" y="2103120"/>
            <a:ext cx="2121408" cy="457200"/>
          </a:xfrm>
          <a:prstGeom prst="roundRect">
            <a:avLst>
              <a:gd name="adj" fmla="val 10000"/>
            </a:avLst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97480" y="2331720"/>
            <a:ext cx="2121408" cy="228600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2157984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tos Display"/>
              </a:rPr>
              <a:t>Warm Care Authority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65176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79631"/>
                </a:solidFill>
                <a:latin typeface="Aptos"/>
              </a:rPr>
              <a:t>Feel: </a:t>
            </a:r>
            <a:r>
              <a:rPr sz="900" b="0" i="0">
                <a:solidFill>
                  <a:srgbClr val="454551"/>
                </a:solidFill>
                <a:latin typeface="Aptos"/>
              </a:rPr>
              <a:t>Reassured, held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154679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79631"/>
                </a:solidFill>
                <a:latin typeface="Aptos"/>
              </a:rPr>
              <a:t>Cue: </a:t>
            </a:r>
            <a:r>
              <a:rPr sz="900" b="0" i="0">
                <a:solidFill>
                  <a:srgbClr val="454551"/>
                </a:solidFill>
                <a:latin typeface="Aptos"/>
              </a:rPr>
              <a:t>Soft warmth, human touch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2103120"/>
            <a:ext cx="2121408" cy="181051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937760" y="2103120"/>
            <a:ext cx="2121408" cy="457200"/>
          </a:xfrm>
          <a:prstGeom prst="roundRect">
            <a:avLst>
              <a:gd name="adj" fmla="val 10000"/>
            </a:avLst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7760" y="2331720"/>
            <a:ext cx="2121408" cy="228600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2157984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tos Display"/>
              </a:rPr>
              <a:t>Premium Modern Wellness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265176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971E1"/>
                </a:solidFill>
                <a:latin typeface="Aptos"/>
              </a:rPr>
              <a:t>Feel: </a:t>
            </a:r>
            <a:r>
              <a:rPr sz="900" b="0" i="0">
                <a:solidFill>
                  <a:srgbClr val="454551"/>
                </a:solidFill>
                <a:latin typeface="Aptos"/>
              </a:rPr>
              <a:t>Aspirational calm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3154679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971E1"/>
                </a:solidFill>
                <a:latin typeface="Aptos"/>
              </a:rPr>
              <a:t>Cue: </a:t>
            </a:r>
            <a:r>
              <a:rPr sz="900" b="0" i="0">
                <a:solidFill>
                  <a:srgbClr val="454551"/>
                </a:solidFill>
                <a:latin typeface="Aptos"/>
              </a:rPr>
              <a:t>Skincare-grade minimalism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2103120"/>
            <a:ext cx="2121408" cy="181051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178040" y="2103120"/>
            <a:ext cx="2121408" cy="457200"/>
          </a:xfrm>
          <a:prstGeom prst="roundRect">
            <a:avLst>
              <a:gd name="adj" fmla="val 10000"/>
            </a:avLst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78040" y="2331720"/>
            <a:ext cx="2121408" cy="228600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2157984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tos Display"/>
              </a:rPr>
              <a:t>Japanese Minimal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265176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54551"/>
                </a:solidFill>
                <a:latin typeface="Aptos"/>
              </a:rPr>
              <a:t>Feel: </a:t>
            </a:r>
            <a:r>
              <a:rPr sz="900" b="0" i="0">
                <a:solidFill>
                  <a:srgbClr val="454551"/>
                </a:solidFill>
                <a:latin typeface="Aptos"/>
              </a:rPr>
              <a:t>Quiet competence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154679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54551"/>
                </a:solidFill>
                <a:latin typeface="Aptos"/>
              </a:rPr>
              <a:t>Cue: </a:t>
            </a:r>
            <a:r>
              <a:rPr sz="900" b="0" i="0">
                <a:solidFill>
                  <a:srgbClr val="454551"/>
                </a:solidFill>
                <a:latin typeface="Aptos"/>
              </a:rPr>
              <a:t>Reductive, honest, muji-like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8320" y="2103120"/>
            <a:ext cx="2121408" cy="181051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18320" y="2103120"/>
            <a:ext cx="2121408" cy="457200"/>
          </a:xfrm>
          <a:prstGeom prst="roundRect">
            <a:avLst>
              <a:gd name="adj" fmla="val 10000"/>
            </a:avLst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418320" y="2331720"/>
            <a:ext cx="2121408" cy="228600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55480" y="2157984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tos Display"/>
              </a:rPr>
              <a:t>Scandinavian Soft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55480" y="265176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9F25"/>
                </a:solidFill>
                <a:latin typeface="Aptos"/>
              </a:rPr>
              <a:t>Feel: </a:t>
            </a:r>
            <a:r>
              <a:rPr sz="900" b="0" i="0">
                <a:solidFill>
                  <a:srgbClr val="454551"/>
                </a:solidFill>
                <a:latin typeface="Aptos"/>
              </a:rPr>
              <a:t>Gentle &amp; human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3154679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9F25"/>
                </a:solidFill>
                <a:latin typeface="Aptos"/>
              </a:rPr>
              <a:t>Cue: </a:t>
            </a:r>
            <a:r>
              <a:rPr sz="900" b="0" i="0">
                <a:solidFill>
                  <a:srgbClr val="454551"/>
                </a:solidFill>
                <a:latin typeface="Aptos"/>
              </a:rPr>
              <a:t>Calm pastels, rounded, airy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069079"/>
            <a:ext cx="2121408" cy="1810512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 w="12700">
            <a:solidFill>
              <a:srgbClr val="4775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57200" y="4069079"/>
            <a:ext cx="2121408" cy="457200"/>
          </a:xfrm>
          <a:prstGeom prst="roundRect">
            <a:avLst>
              <a:gd name="adj" fmla="val 10000"/>
            </a:avLst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297679"/>
            <a:ext cx="2121408" cy="228600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4123943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tos Display"/>
              </a:rPr>
              <a:t>Protection Intelligence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4617719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775E7"/>
                </a:solidFill>
                <a:latin typeface="Aptos"/>
              </a:rPr>
              <a:t>Feel: </a:t>
            </a:r>
            <a:r>
              <a:rPr sz="900" b="0" i="0">
                <a:solidFill>
                  <a:srgbClr val="454551"/>
                </a:solidFill>
                <a:latin typeface="Aptos"/>
              </a:rPr>
              <a:t>In control, modern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120640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775E7"/>
                </a:solidFill>
                <a:latin typeface="Aptos"/>
              </a:rPr>
              <a:t>Cue: </a:t>
            </a:r>
            <a:r>
              <a:rPr sz="900" b="0" i="0">
                <a:solidFill>
                  <a:srgbClr val="454551"/>
                </a:solidFill>
                <a:latin typeface="Aptos"/>
              </a:rPr>
              <a:t>Structural, tech-grade, Apple-like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" y="5550407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Aptos"/>
              </a:rPr>
              <a:t>FRONT-RUNNER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697480" y="4069079"/>
            <a:ext cx="2121408" cy="181051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697480" y="4069079"/>
            <a:ext cx="2121408" cy="457200"/>
          </a:xfrm>
          <a:prstGeom prst="roundRect">
            <a:avLst>
              <a:gd name="adj" fmla="val 10000"/>
            </a:avLst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697480" y="4297679"/>
            <a:ext cx="2121408" cy="228600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34640" y="4123943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tos Display"/>
              </a:rPr>
              <a:t>Editorial / Knowledge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34640" y="4617719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7307F"/>
                </a:solidFill>
                <a:latin typeface="Aptos"/>
              </a:rPr>
              <a:t>Feel: </a:t>
            </a:r>
            <a:r>
              <a:rPr sz="900" b="0" i="0">
                <a:solidFill>
                  <a:srgbClr val="454551"/>
                </a:solidFill>
                <a:latin typeface="Aptos"/>
              </a:rPr>
              <a:t>Informed, respected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34640" y="5120640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7307F"/>
                </a:solidFill>
                <a:latin typeface="Aptos"/>
              </a:rPr>
              <a:t>Cue: </a:t>
            </a:r>
            <a:r>
              <a:rPr sz="900" b="0" i="0">
                <a:solidFill>
                  <a:srgbClr val="454551"/>
                </a:solidFill>
                <a:latin typeface="Aptos"/>
              </a:rPr>
              <a:t>Magazine, education-led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937760" y="4069079"/>
            <a:ext cx="2121408" cy="1810512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 w="12700">
            <a:solidFill>
              <a:srgbClr val="D71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937760" y="4069079"/>
            <a:ext cx="2121408" cy="457200"/>
          </a:xfrm>
          <a:prstGeom prst="roundRect">
            <a:avLst>
              <a:gd name="adj" fmla="val 10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37760" y="4297679"/>
            <a:ext cx="2121408" cy="228600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74920" y="4123943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tos Display"/>
              </a:rPr>
              <a:t>Pharma-Consumer Hybrid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74920" y="4617719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D71E83"/>
                </a:solidFill>
                <a:latin typeface="Aptos"/>
              </a:rPr>
              <a:t>Feel: </a:t>
            </a:r>
            <a:r>
              <a:rPr sz="900" b="0" i="0">
                <a:solidFill>
                  <a:srgbClr val="454551"/>
                </a:solidFill>
                <a:latin typeface="Aptos"/>
              </a:rPr>
              <a:t>Credible &amp; accessible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74920" y="5120640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D71E83"/>
                </a:solidFill>
                <a:latin typeface="Aptos"/>
              </a:rPr>
              <a:t>Cue: </a:t>
            </a:r>
            <a:r>
              <a:rPr sz="900" b="0" i="0">
                <a:solidFill>
                  <a:srgbClr val="454551"/>
                </a:solidFill>
                <a:latin typeface="Aptos"/>
              </a:rPr>
              <a:t>Rx cues + human warmth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94960" y="5550407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Aptos"/>
              </a:rPr>
              <a:t>FRONT-RUNNER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178040" y="4069079"/>
            <a:ext cx="2121408" cy="181051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178040" y="4069079"/>
            <a:ext cx="2121408" cy="457200"/>
          </a:xfrm>
          <a:prstGeom prst="roundRect">
            <a:avLst>
              <a:gd name="adj" fmla="val 10000"/>
            </a:avLst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78040" y="4297679"/>
            <a:ext cx="2121408" cy="228600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0" y="4123943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tos Display"/>
              </a:rPr>
              <a:t>Playful Developmental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0" y="4617719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79631"/>
                </a:solidFill>
                <a:latin typeface="Aptos"/>
              </a:rPr>
              <a:t>Feel: </a:t>
            </a:r>
            <a:r>
              <a:rPr sz="900" b="0" i="0">
                <a:solidFill>
                  <a:srgbClr val="454551"/>
                </a:solidFill>
                <a:latin typeface="Aptos"/>
              </a:rPr>
              <a:t>Optimistic, guided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0" y="5120640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79631"/>
                </a:solidFill>
                <a:latin typeface="Aptos"/>
              </a:rPr>
              <a:t>Cue: </a:t>
            </a:r>
            <a:r>
              <a:rPr sz="900" b="0" i="0">
                <a:solidFill>
                  <a:srgbClr val="454551"/>
                </a:solidFill>
                <a:latin typeface="Aptos"/>
              </a:rPr>
              <a:t>Growth-stage colour coding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418320" y="4069079"/>
            <a:ext cx="2121408" cy="181051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418320" y="4069079"/>
            <a:ext cx="2121408" cy="457200"/>
          </a:xfrm>
          <a:prstGeom prst="roundRect">
            <a:avLst>
              <a:gd name="adj" fmla="val 10000"/>
            </a:avLst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418320" y="4297679"/>
            <a:ext cx="2121408" cy="228600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55480" y="4123943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tos Display"/>
              </a:rPr>
              <a:t>Luxury Derm-Skincare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55480" y="4617719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971E1"/>
                </a:solidFill>
                <a:latin typeface="Aptos"/>
              </a:rPr>
              <a:t>Feel: </a:t>
            </a:r>
            <a:r>
              <a:rPr sz="900" b="0" i="0">
                <a:solidFill>
                  <a:srgbClr val="454551"/>
                </a:solidFill>
                <a:latin typeface="Aptos"/>
              </a:rPr>
              <a:t>Premium, precious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55480" y="5120640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971E1"/>
                </a:solidFill>
                <a:latin typeface="Aptos"/>
              </a:rPr>
              <a:t>Cue: </a:t>
            </a:r>
            <a:r>
              <a:rPr sz="900" b="0" i="0">
                <a:solidFill>
                  <a:srgbClr val="454551"/>
                </a:solidFill>
                <a:latin typeface="Aptos"/>
              </a:rPr>
              <a:t>Prestige, restraint, tactile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Aptos"/>
              </a:rPr>
              <a:t>The winning direction fuses the two front-runners into </a:t>
            </a:r>
            <a:r>
              <a:rPr sz="1050" b="1" i="0">
                <a:solidFill>
                  <a:srgbClr val="57307F"/>
                </a:solidFill>
                <a:latin typeface="Aptos"/>
              </a:rPr>
              <a:t>“Clinical Warmth” — pharma credibility with human calm.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3 · PACKAGING WORLDS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Six worlds, six commercial verdicts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11274552" cy="411480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73352"/>
            <a:ext cx="1920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WORLD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673352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EMOTION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673352"/>
            <a:ext cx="3383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RETAIL / AMAZON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1673352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167335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PREMIUM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673352"/>
            <a:ext cx="2148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VERDICT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11680"/>
            <a:ext cx="1127455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011680"/>
            <a:ext cx="73152" cy="658368"/>
          </a:xfrm>
          <a:prstGeom prst="rect">
            <a:avLst/>
          </a:prstGeom>
          <a:solidFill>
            <a:srgbClr val="4EA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066544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Clinical Science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066544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Trust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066544"/>
            <a:ext cx="3383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Screams credibility on thumbnails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2066544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2066544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Mid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066544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8C8C8C"/>
                </a:solidFill>
                <a:latin typeface="Aptos"/>
              </a:rPr>
              <a:t>Cold alone — needs warmth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688336"/>
            <a:ext cx="11274552" cy="658368"/>
          </a:xfrm>
          <a:prstGeom prst="rect">
            <a:avLst/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2688336"/>
            <a:ext cx="73152" cy="658368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2743200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Warm Care Authority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2743200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Comfort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2743200"/>
            <a:ext cx="3383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Blends in; low shelf shout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19" y="2743200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19" y="2743200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74320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8C8C8C"/>
                </a:solidFill>
                <a:latin typeface="Aptos"/>
              </a:rPr>
              <a:t>Too close to Johnson's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364992"/>
            <a:ext cx="1127455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364992"/>
            <a:ext cx="73152" cy="658368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3419856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Premium Wellness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3419856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Aspiration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3419856"/>
            <a:ext cx="3383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Beautiful but quiet on Amazon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19" y="3419856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Mid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19" y="3419856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3419856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D71E83"/>
                </a:solidFill>
                <a:latin typeface="Aptos"/>
              </a:rPr>
              <a:t>Premium, weak mass reach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041648"/>
            <a:ext cx="11274552" cy="658368"/>
          </a:xfrm>
          <a:prstGeom prst="rect">
            <a:avLst/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041648"/>
            <a:ext cx="73152" cy="658368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4096512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Protection Intelligence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0" y="4096512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Control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4096512"/>
            <a:ext cx="3383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Distinct, structural, ownable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19" y="4096512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19" y="4096512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High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4096512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B9F25"/>
                </a:solidFill>
                <a:latin typeface="Aptos"/>
              </a:rPr>
              <a:t>Strong — modern &amp; unique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718304"/>
            <a:ext cx="11274552" cy="658368"/>
          </a:xfrm>
          <a:prstGeom prst="rect">
            <a:avLst/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4718304"/>
            <a:ext cx="73152" cy="658368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4773168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Pharma-Consumer Hybrid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60320" y="4773168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Confidence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0" y="4773168"/>
            <a:ext cx="3383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Reads credible + human at a glance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9519" y="4773168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High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19" y="4773168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Mid-Hi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4773168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6B9F25"/>
                </a:solidFill>
                <a:latin typeface="Aptos"/>
              </a:rPr>
              <a:t>Strong — India-right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394960"/>
            <a:ext cx="11274552" cy="658368"/>
          </a:xfrm>
          <a:prstGeom prst="rect">
            <a:avLst/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" y="5394960"/>
            <a:ext cx="73152" cy="658368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928" y="5449824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Luxury Derm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60320" y="5449824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Prestige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0" y="5449824"/>
            <a:ext cx="3383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Premium; too niche for scale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89519" y="5449824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Low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03919" y="5449824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V.High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01200" y="5449824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8C8C8C"/>
                </a:solidFill>
                <a:latin typeface="Aptos"/>
              </a:rPr>
              <a:t>Halo SKU only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3 · PACKAGING WORLDS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How the packaging should behave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Recommended world: </a:t>
            </a:r>
            <a:r>
              <a:rPr sz="1300" b="1" i="0">
                <a:solidFill>
                  <a:srgbClr val="D71E83"/>
                </a:solidFill>
                <a:latin typeface="Aptos Display"/>
              </a:rPr>
              <a:t>“Clinical Warmth”</a:t>
            </a:r>
            <a:r>
              <a:rPr sz="1200" b="0" i="0">
                <a:solidFill>
                  <a:srgbClr val="454551"/>
                </a:solidFill>
                <a:latin typeface="Aptos"/>
              </a:rPr>
              <a:t> — pharma-grade credibility carried with human calm. The structure itself becomes the mnemonic.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40280"/>
            <a:ext cx="3611880" cy="171907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40280"/>
            <a:ext cx="3611880" cy="82296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7802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C8C8C"/>
                </a:solidFill>
                <a:latin typeface="Aptos Display"/>
              </a:rPr>
              <a:t>What should DISAPPEAR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953512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Fear language, crowded claims, busy florals, six competing icons, 'toxin-free' checklists.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4528" y="2240280"/>
            <a:ext cx="3611880" cy="171907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24528" y="2240280"/>
            <a:ext cx="3611880" cy="82296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5696" y="247802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71E83"/>
                </a:solidFill>
                <a:latin typeface="Aptos Display"/>
              </a:rPr>
              <a:t>What should DOMINATE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953512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One outcome, one proof device, generous white space, a single signature colour per outcome.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2240280"/>
            <a:ext cx="3611880" cy="171907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91856" y="2240280"/>
            <a:ext cx="3611880" cy="82296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4" y="247802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775E7"/>
                </a:solidFill>
                <a:latin typeface="Aptos Display"/>
              </a:rPr>
              <a:t>Structure as mnemonic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2953512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A distinctive bottle silhouette + cap system recognised in silhouette — owned at 200px and on shelf.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14800"/>
            <a:ext cx="3611880" cy="171907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114800"/>
            <a:ext cx="3611880" cy="82296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35254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9F25"/>
                </a:solidFill>
                <a:latin typeface="Aptos Display"/>
              </a:rPr>
              <a:t>Packaging that teaches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828032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A quiet 'barrier science' cue and a single 'what to expect' outcome ladder — educational, not loud.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24528" y="4114800"/>
            <a:ext cx="3611880" cy="171907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24528" y="4114800"/>
            <a:ext cx="3611880" cy="82296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25696" y="435254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971E1"/>
                </a:solidFill>
                <a:latin typeface="Aptos Display"/>
              </a:rPr>
              <a:t>Signals safety by 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5696" y="4828032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Tamper-evidence, refill architecture, soft-touch finish — safety felt in the hand, not just claimed.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91856" y="4114800"/>
            <a:ext cx="3611880" cy="171907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91856" y="4114800"/>
            <a:ext cx="3611880" cy="82296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3024" y="435254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79631"/>
                </a:solidFill>
                <a:latin typeface="Aptos Display"/>
              </a:rPr>
              <a:t>One proof device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4" y="4828032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A single recurring 'Proven' mark (clinical/derm) replaces scattered trust seals across the range.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54864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703320"/>
            <a:ext cx="1280160" cy="91440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Aptos Display"/>
              </a:rPr>
              <a:t>Brand-Element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7492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E7DDF0"/>
                </a:solidFill>
                <a:latin typeface="Aptos"/>
              </a:rPr>
              <a:t>Every existing element on trial: Keep · Modify · Replace · Delete · Invent.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9B8D8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4 · BRAND-ELEMENT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Every element, judged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11274552" cy="384048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18488"/>
            <a:ext cx="2743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ELEMENT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1618488"/>
            <a:ext cx="16459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VERDICT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1618488"/>
            <a:ext cx="6766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RATIONALE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56816"/>
            <a:ext cx="1127455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002536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NikoMom 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03911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KEEP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2002536"/>
            <a:ext cx="6766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Real equity + cost to change. Keep the name — radically change what it stands for.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418588"/>
            <a:ext cx="11274552" cy="457200"/>
          </a:xfrm>
          <a:prstGeom prst="rect">
            <a:avLst/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464308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“Baby Care Expert” position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50088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2464308"/>
            <a:ext cx="6766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With “Baby Skin-Barrier Company.” Expertise talks down; barrier science empowers.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880360"/>
            <a:ext cx="1127455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2926079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Four “-Nest” technologies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29626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DELETE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2926079"/>
            <a:ext cx="6766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HydraNest/TenderNest/DermaNest/HealNest → one master platform. Over-engineered.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42132"/>
            <a:ext cx="11274552" cy="457200"/>
          </a:xfrm>
          <a:prstGeom prst="rect">
            <a:avLst/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387851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Master technology platform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46120" y="3424427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INVENT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56048" y="3387851"/>
            <a:ext cx="6766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BarrierNest™ — one signature science endorsement across the range.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803904"/>
            <a:ext cx="1127455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3849624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“Safe / toxin-free” as lead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46120" y="3886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REPLACE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56048" y="3849624"/>
            <a:ext cx="6766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Table stakes. Lead with visible outcome + proof; safety becomes a given, not the pitch.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265676"/>
            <a:ext cx="11274552" cy="457200"/>
          </a:xfrm>
          <a:prstGeom prst="rect">
            <a:avLst/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311396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Panacea Biotec endorsement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6120" y="434797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KEEP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56048" y="4311396"/>
            <a:ext cx="6766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The single biggest asset — the pharma moat. Elevate it as the trust anchor.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727448"/>
            <a:ext cx="1127455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4773168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Mother-and-child imagery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46120" y="480974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MODIFY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6048" y="4773168"/>
            <a:ext cx="6766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Shift hero to the baby's outcome; parent as confident winner, not anxious subject.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189220"/>
            <a:ext cx="11274552" cy="457200"/>
          </a:xfrm>
          <a:prstGeom prst="rect">
            <a:avLst/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5234940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Multiple trust seals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46120" y="52715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MODIFY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56048" y="5234940"/>
            <a:ext cx="6766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Collapse to one recurring “Proven” proof device for instant recognition.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650992"/>
            <a:ext cx="1127455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5696712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Confidence system / outcome ladder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46120" y="57332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INVENT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56048" y="5696712"/>
            <a:ext cx="6766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A “what to expect” ladder + parent companion (WhatsApp/app) — the new moat.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4 · BRAND-ELEMENT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The technology system is over-engineered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Four proprietary “-Nest” technologies for a young brand fragments equity, confuses parents, and demands an education budget the brand does not have. </a:t>
            </a:r>
            <a:r>
              <a:rPr sz="1200" b="1" i="0">
                <a:solidFill>
                  <a:srgbClr val="D71E83"/>
                </a:solidFill>
                <a:latin typeface="Aptos"/>
              </a:rPr>
              <a:t>Collapse four into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5394960" cy="365760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5059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8C8C8C"/>
                </a:solidFill>
                <a:latin typeface="Aptos"/>
              </a:rPr>
              <a:t>BEFORE — four sub-technologies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880360"/>
            <a:ext cx="466344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99923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54551"/>
                </a:solidFill>
                <a:latin typeface="Aptos"/>
              </a:rPr>
              <a:t>HydraNest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538728"/>
            <a:ext cx="466344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65760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54551"/>
                </a:solidFill>
                <a:latin typeface="Aptos"/>
              </a:rPr>
              <a:t>TenderNest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97096"/>
            <a:ext cx="466344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315968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54551"/>
                </a:solidFill>
                <a:latin typeface="Aptos"/>
              </a:rPr>
              <a:t>DermaNest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55464"/>
            <a:ext cx="466344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974336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54551"/>
                </a:solidFill>
                <a:latin typeface="Aptos"/>
              </a:rPr>
              <a:t>HealNest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5321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D71E83"/>
                </a:solidFill>
                <a:latin typeface="Aptos"/>
              </a:rPr>
              <a:t>4 names to explain · 4 badges · 4 equity pools · high confusion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43600" y="3749039"/>
            <a:ext cx="365760" cy="731520"/>
          </a:xfrm>
          <a:prstGeom prst="rightArrow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2286000"/>
            <a:ext cx="5303520" cy="3657600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245059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AFTER — one master platform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2926080"/>
            <a:ext cx="4389120" cy="1371600"/>
          </a:xfrm>
          <a:prstGeom prst="roundRect">
            <a:avLst>
              <a:gd name="adj" fmla="val 6000"/>
            </a:avLst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315468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ptos Display"/>
              </a:rPr>
              <a:t>BarrierNest™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EBDDF3"/>
                </a:solidFill>
                <a:latin typeface="Aptos"/>
              </a:rPr>
              <a:t>One protective science signature, across every product.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48056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✓  Keeps the “Nest” equity (safe, warm, protective)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✓  Adds the “Barrier” science moat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✓  Ingredients &amp; outcomes lead each pack; tech signs quietly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✓  One badge, one story, one equity pool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4 · BRAND-ELEMENT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What the parent should see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Ranked information hierarchy — front of pack, Amazon thumbnail, and quick-commerce tile all obey this order.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48840"/>
            <a:ext cx="11274552" cy="534924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148840"/>
            <a:ext cx="566928" cy="534924"/>
          </a:xfrm>
          <a:prstGeom prst="roundRect">
            <a:avLst>
              <a:gd name="adj" fmla="val 12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148840"/>
            <a:ext cx="246888" cy="534924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03704"/>
            <a:ext cx="56692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19456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D71E83"/>
                </a:solidFill>
                <a:latin typeface="Aptos Display"/>
              </a:rP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94560"/>
            <a:ext cx="7040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What visibly happens — “48h barrier protection”, “no rash”.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02052"/>
            <a:ext cx="11274552" cy="534924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2702052"/>
            <a:ext cx="566928" cy="534924"/>
          </a:xfrm>
          <a:prstGeom prst="roundRect">
            <a:avLst>
              <a:gd name="adj" fmla="val 12000"/>
            </a:avLst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2702052"/>
            <a:ext cx="246888" cy="534924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756916"/>
            <a:ext cx="56692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2747772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7307F"/>
                </a:solidFill>
                <a:latin typeface="Aptos Display"/>
              </a:rPr>
              <a:t>PROTECTION / 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747772"/>
            <a:ext cx="7040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The emotional promise — your baby is protected; you've got this.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55264"/>
            <a:ext cx="11274552" cy="534924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3255264"/>
            <a:ext cx="566928" cy="534924"/>
          </a:xfrm>
          <a:prstGeom prst="roundRect">
            <a:avLst>
              <a:gd name="adj" fmla="val 12000"/>
            </a:avLst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255264"/>
            <a:ext cx="246888" cy="534924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310128"/>
            <a:ext cx="56692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300984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775E7"/>
                </a:solidFill>
                <a:latin typeface="Aptos Display"/>
              </a:rPr>
              <a:t>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300984"/>
            <a:ext cx="7040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Clinically / dermatologically tested; paediatrician-recommended stat.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808476"/>
            <a:ext cx="11274552" cy="534924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3808476"/>
            <a:ext cx="566928" cy="534924"/>
          </a:xfrm>
          <a:prstGeom prst="roundRect">
            <a:avLst>
              <a:gd name="adj" fmla="val 12000"/>
            </a:avLst>
          </a:prstGeom>
          <a:solidFill>
            <a:srgbClr val="4EA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3808476"/>
            <a:ext cx="246888" cy="534924"/>
          </a:xfrm>
          <a:prstGeom prst="rect">
            <a:avLst/>
          </a:prstGeom>
          <a:solidFill>
            <a:srgbClr val="4EA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863339"/>
            <a:ext cx="56692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3854196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EA6DC"/>
                </a:solidFill>
                <a:latin typeface="Aptos Display"/>
              </a:rPr>
              <a:t>TECHNOLOGY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3854196"/>
            <a:ext cx="7040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BarrierNest™ signature — small, quiet, consistent.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361688"/>
            <a:ext cx="11274552" cy="534924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" y="4361688"/>
            <a:ext cx="566928" cy="534924"/>
          </a:xfrm>
          <a:prstGeom prst="roundRect">
            <a:avLst>
              <a:gd name="adj" fmla="val 12000"/>
            </a:avLst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361688"/>
            <a:ext cx="246888" cy="534924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416551"/>
            <a:ext cx="56692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4407407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B9F25"/>
                </a:solidFill>
                <a:latin typeface="Aptos Display"/>
              </a:rPr>
              <a:t>INGREDIENTS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4407407"/>
            <a:ext cx="7040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Supporting reason-to-believe; hero actives named.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914900"/>
            <a:ext cx="11274552" cy="534924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57200" y="4914900"/>
            <a:ext cx="566928" cy="534924"/>
          </a:xfrm>
          <a:prstGeom prst="roundRect">
            <a:avLst>
              <a:gd name="adj" fmla="val 12000"/>
            </a:avLst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4914900"/>
            <a:ext cx="246888" cy="534924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969764"/>
            <a:ext cx="56692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34440" y="496062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79631"/>
                </a:solidFill>
                <a:latin typeface="Aptos Display"/>
              </a:rPr>
              <a:t>PANACEA ENDORSEMENT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0" y="4960620"/>
            <a:ext cx="7040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The trust anchor — corner-locked on every pack.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468112"/>
            <a:ext cx="11274552" cy="534924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57200" y="5468112"/>
            <a:ext cx="566928" cy="534924"/>
          </a:xfrm>
          <a:prstGeom prst="roundRect">
            <a:avLst>
              <a:gd name="adj" fmla="val 12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" y="5468112"/>
            <a:ext cx="246888" cy="53492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522976"/>
            <a:ext cx="56692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 Display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34440" y="5513832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8C8C8C"/>
                </a:solidFill>
                <a:latin typeface="Aptos Display"/>
              </a:rPr>
              <a:t>ROUTINE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0" y="5513832"/>
            <a:ext cx="7040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When &amp; how to use — back of pack and digital companion.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D71E83"/>
                </a:solidFill>
                <a:latin typeface="Aptos"/>
              </a:rPr>
              <a:t>REJECTED AS LEAD:  </a:t>
            </a:r>
            <a:r>
              <a:rPr sz="1050" b="0" i="0">
                <a:solidFill>
                  <a:srgbClr val="454551"/>
                </a:solidFill>
                <a:latin typeface="Aptos"/>
              </a:rPr>
              <a:t>“Safe / toxin-free” (table stakes) · heavy technology (education cost) · “trust” as an adjective (unprovable).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54864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703320"/>
            <a:ext cx="1280160" cy="91440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Aptos Display"/>
              </a:rPr>
              <a:t>Naming Philosophy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7492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E7DDF0"/>
                </a:solidFill>
                <a:latin typeface="Aptos"/>
              </a:rPr>
              <a:t>Name, sub-brands, variants and technology — judged for equity, SEO, trademark and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9B8D8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5 · NAMING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NikoMom: keep the name, replace its 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5394960" cy="45262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37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THE HONEST CASE AGAINST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48840"/>
            <a:ext cx="4937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–  “Mom” centres the mother — but the hero is the baby's outcome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–  Excludes fathers &amp; modern shared parenting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–  “Niko” is warm but generic; limited science signal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–  Weaker standalone trademark &amp; global distinctiveness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605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B9F25"/>
                </a:solidFill>
                <a:latin typeface="Aptos"/>
              </a:rPr>
              <a:t>THE CASE FOR KEEPING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4937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+  Real, hard-won equity in market already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+  “Niko” = short, warm, globally pronounceable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+  Rebranding cost &amp; risk are material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+  Meaning can be rebuilt without a rename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554480"/>
            <a:ext cx="5577840" cy="4526280"/>
          </a:xfrm>
          <a:prstGeom prst="roundRect">
            <a:avLst>
              <a:gd name="adj" fmla="val 6000"/>
            </a:avLst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BDDF3"/>
                </a:solidFill>
                <a:latin typeface="Aptos"/>
              </a:rPr>
              <a:t>VERDICT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48840"/>
            <a:ext cx="5120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Aptos Display"/>
              </a:rPr>
              <a:t>Keep </a:t>
            </a:r>
            <a:r>
              <a:rPr sz="1800" b="1" i="0">
                <a:solidFill>
                  <a:srgbClr val="FFFFFF"/>
                </a:solidFill>
                <a:latin typeface="Aptos Display"/>
              </a:rPr>
              <a:t>NikoMom</a:t>
            </a:r>
            <a:r>
              <a:rPr sz="1800" b="0" i="0">
                <a:solidFill>
                  <a:srgbClr val="FFFFFF"/>
                </a:solidFill>
                <a:latin typeface="Aptos Display"/>
              </a:rPr>
              <a:t>. Radically change what it means — from “mom's little helper” to India's baby skin-barrier science company.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977639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HOW THE MEANING SHIFTS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343400"/>
            <a:ext cx="5120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Niko</a:t>
            </a:r>
            <a:r>
              <a:rPr sz="1100" b="0" i="0">
                <a:solidFill>
                  <a:srgbClr val="EBDDF3"/>
                </a:solidFill>
                <a:latin typeface="Aptos"/>
              </a:rPr>
              <a:t> — warmth, the human bond, “victory / good” resonance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EBDDF3"/>
                </a:solidFill>
                <a:latin typeface="Aptos"/>
              </a:rPr>
              <a:t>+ a science endorsement signature (BarrierNest™ + Panacea)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= warm name, serious science. The tension is the brand.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5 · NAMING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One naming system, built for SEO and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11274552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737360"/>
            <a:ext cx="11274552" cy="786384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37360"/>
            <a:ext cx="82296" cy="786384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47088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7307F"/>
                </a:solidFill>
                <a:latin typeface="Aptos Display"/>
              </a:rPr>
              <a:t>Master brand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1847088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9F25"/>
                </a:solidFill>
                <a:latin typeface="Aptos"/>
              </a:rPr>
              <a:t>Keep NikoMom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847088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Endorsed by Panacea Biotec. Warm human name, serious science backer.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847088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454551"/>
                </a:solidFill>
                <a:latin typeface="Aptos"/>
              </a:rPr>
              <a:t>→ Ownable + equity retained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15184"/>
            <a:ext cx="11274552" cy="786384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615184"/>
            <a:ext cx="82296" cy="786384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724912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7307F"/>
                </a:solidFill>
                <a:latin typeface="Aptos Display"/>
              </a:rPr>
              <a:t>Variant naming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72491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4775E7"/>
                </a:solidFill>
                <a:latin typeface="Aptos"/>
              </a:rPr>
              <a:t>Descriptive + 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724912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“NikoMom Barrier Cream”, “Daily Protect Lotion” — not “DermaNest”.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724912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454551"/>
                </a:solidFill>
                <a:latin typeface="Aptos"/>
              </a:rPr>
              <a:t>→ Wins Amazon/Google search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493008"/>
            <a:ext cx="11274552" cy="786384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493008"/>
            <a:ext cx="82296" cy="786384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602736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7307F"/>
                </a:solidFill>
                <a:latin typeface="Aptos Display"/>
              </a:rPr>
              <a:t>Sub-brand logic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602736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79631"/>
                </a:solidFill>
                <a:latin typeface="Aptos"/>
              </a:rPr>
              <a:t>Minimal / none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602736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One master brand + descriptive ranges. Avoid sub-brand sprawl.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602736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454551"/>
                </a:solidFill>
                <a:latin typeface="Aptos"/>
              </a:rPr>
              <a:t>→ Cheaper to build, clearer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370831"/>
            <a:ext cx="11274552" cy="786384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370831"/>
            <a:ext cx="82296" cy="786384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480559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7307F"/>
                </a:solidFill>
                <a:latin typeface="Aptos Display"/>
              </a:rPr>
              <a:t>Technology naming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480559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71E83"/>
                </a:solidFill>
                <a:latin typeface="Aptos"/>
              </a:rPr>
              <a:t>One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4480559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BarrierNest™ only. Benefit-led, not clinical jargon.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480559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454551"/>
                </a:solidFill>
                <a:latin typeface="Aptos"/>
              </a:rPr>
              <a:t>→ One equity pool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248656"/>
            <a:ext cx="11274552" cy="786384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248656"/>
            <a:ext cx="82296" cy="786384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358384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7307F"/>
                </a:solidFill>
                <a:latin typeface="Aptos Display"/>
              </a:rPr>
              <a:t>Range architecture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5358384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8971E1"/>
                </a:solidFill>
                <a:latin typeface="Aptos"/>
              </a:rPr>
              <a:t>By outcome, not chemistry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5358384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Protect · Cleanse · Repair · Soothe — shopper language.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5358384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454551"/>
                </a:solidFill>
                <a:latin typeface="Aptos"/>
              </a:rPr>
              <a:t>→ Intuitive on shelf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D71E83"/>
                </a:solidFill>
                <a:latin typeface="Aptos"/>
              </a:rPr>
              <a:t>PRINCIPLE   </a:t>
            </a:r>
            <a:r>
              <a:rPr sz="1050" b="0" i="0">
                <a:solidFill>
                  <a:srgbClr val="454551"/>
                </a:solidFill>
                <a:latin typeface="Aptos"/>
              </a:rPr>
              <a:t>Proprietary names for the ONE thing worth owning (the technology). Descriptive, searchable names for everything a parent types into a search bar.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4EA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54864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703320"/>
            <a:ext cx="1280160" cy="91440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Aptos Display"/>
              </a:rPr>
              <a:t>Decision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7492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E7DDF0"/>
                </a:solidFill>
                <a:latin typeface="Aptos"/>
              </a:rPr>
              <a:t>Six directions scored across fourteen board-level criteria. The matrix, not the opinion, decides.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9B8D8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6 · DECISION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The decision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11274552" cy="566928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7276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517904"/>
            <a:ext cx="556564" cy="5486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660" b="1" i="0">
                <a:solidFill>
                  <a:srgbClr val="FFFFFF"/>
                </a:solidFill>
                <a:latin typeface="Aptos"/>
              </a:rPr>
              <a:t>Desirability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9844" y="1517904"/>
            <a:ext cx="556564" cy="5486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660" b="1" i="0">
                <a:solidFill>
                  <a:srgbClr val="FFFFFF"/>
                </a:solidFill>
                <a:latin typeface="Aptos"/>
              </a:rPr>
              <a:t>Distinctiveness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6409" y="1517904"/>
            <a:ext cx="556564" cy="5486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660" b="1" i="0">
                <a:solidFill>
                  <a:srgbClr val="FFFFFF"/>
                </a:solidFill>
                <a:latin typeface="Aptos"/>
              </a:rPr>
              <a:t>Memorability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2974" y="1517904"/>
            <a:ext cx="556564" cy="5486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660" b="1" i="0">
                <a:solidFill>
                  <a:srgbClr val="FFFFFF"/>
                </a:solidFill>
                <a:latin typeface="Aptos"/>
              </a:rPr>
              <a:t>Shelf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9539" y="1517904"/>
            <a:ext cx="556564" cy="5486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660" b="1" i="0">
                <a:solidFill>
                  <a:srgbClr val="FFFFFF"/>
                </a:solidFill>
                <a:latin typeface="Aptos"/>
              </a:rPr>
              <a:t>Amazon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6104" y="1517904"/>
            <a:ext cx="556564" cy="5486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660" b="1" i="0">
                <a:solidFill>
                  <a:srgbClr val="FFFFFF"/>
                </a:solidFill>
                <a:latin typeface="Aptos"/>
              </a:rPr>
              <a:t>Premium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2668" y="1517904"/>
            <a:ext cx="556564" cy="5486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660" b="1" i="0">
                <a:solidFill>
                  <a:srgbClr val="FFFFFF"/>
                </a:solidFill>
                <a:latin typeface="Aptos"/>
              </a:rPr>
              <a:t>Sci. credibility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9233" y="1517904"/>
            <a:ext cx="556564" cy="5486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660" b="1" i="0">
                <a:solidFill>
                  <a:srgbClr val="FFFFFF"/>
                </a:solidFill>
                <a:latin typeface="Aptos"/>
              </a:rPr>
              <a:t>Scalability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5798" y="1517904"/>
            <a:ext cx="556564" cy="5486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660" b="1" i="0">
                <a:solidFill>
                  <a:srgbClr val="FFFFFF"/>
                </a:solidFill>
                <a:latin typeface="Aptos"/>
              </a:rPr>
              <a:t>Portfolio flex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2363" y="1517904"/>
            <a:ext cx="556564" cy="5486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660" b="1" i="0">
                <a:solidFill>
                  <a:srgbClr val="FFFFFF"/>
                </a:solidFill>
                <a:latin typeface="Aptos"/>
              </a:rPr>
              <a:t>Future-proof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8927" y="1517904"/>
            <a:ext cx="556564" cy="5486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660" b="1" i="0">
                <a:solidFill>
                  <a:srgbClr val="FFFFFF"/>
                </a:solidFill>
                <a:latin typeface="Aptos"/>
              </a:rPr>
              <a:t>Ease exec.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5492" y="1517904"/>
            <a:ext cx="556564" cy="5486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660" b="1" i="0">
                <a:solidFill>
                  <a:srgbClr val="FFFFFF"/>
                </a:solidFill>
                <a:latin typeface="Aptos"/>
              </a:rPr>
              <a:t>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62057" y="1517904"/>
            <a:ext cx="556564" cy="5486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660" b="1" i="0">
                <a:solidFill>
                  <a:srgbClr val="FFFFFF"/>
                </a:solidFill>
                <a:latin typeface="Aptos"/>
              </a:rPr>
              <a:t>Ownability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18622" y="1517904"/>
            <a:ext cx="556564" cy="5486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660" b="1" i="0">
                <a:solidFill>
                  <a:srgbClr val="FFFFFF"/>
                </a:solidFill>
                <a:latin typeface="Aptos"/>
              </a:rPr>
              <a:t>Int'l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75187" y="1572768"/>
            <a:ext cx="8308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TOTAL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093976"/>
            <a:ext cx="11274552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2139696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 i="0">
                <a:solidFill>
                  <a:srgbClr val="57307F"/>
                </a:solidFill>
                <a:latin typeface="Aptos"/>
              </a:rPr>
              <a:t>Baby Care Expert (current)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01568" y="2157984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215798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8132" y="2157984"/>
            <a:ext cx="519988" cy="457200"/>
          </a:xfrm>
          <a:prstGeom prst="rect">
            <a:avLst/>
          </a:prstGeom>
          <a:solidFill>
            <a:srgbClr val="E7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9844" y="215798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14697" y="2157984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6409" y="215798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71262" y="2157984"/>
            <a:ext cx="519988" cy="457200"/>
          </a:xfrm>
          <a:prstGeom prst="rect">
            <a:avLst/>
          </a:prstGeom>
          <a:solidFill>
            <a:srgbClr val="E7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52974" y="215798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27827" y="2157984"/>
            <a:ext cx="519988" cy="457200"/>
          </a:xfrm>
          <a:prstGeom prst="rect">
            <a:avLst/>
          </a:prstGeom>
          <a:solidFill>
            <a:srgbClr val="E7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09539" y="215798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84391" y="2157984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66104" y="215798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40956" y="2157984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2668" y="215798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97521" y="2157984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79233" y="215798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54086" y="2157984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35798" y="215798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0651" y="2157984"/>
            <a:ext cx="519988" cy="457200"/>
          </a:xfrm>
          <a:prstGeom prst="rect">
            <a:avLst/>
          </a:prstGeom>
          <a:solidFill>
            <a:srgbClr val="E7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92363" y="215798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7215" y="2157984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48927" y="215798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23780" y="2157984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5492" y="215798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80345" y="2157984"/>
            <a:ext cx="519988" cy="457200"/>
          </a:xfrm>
          <a:prstGeom prst="rect">
            <a:avLst/>
          </a:prstGeom>
          <a:solidFill>
            <a:srgbClr val="E7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62057" y="215798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636910" y="2157984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618622" y="215798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75187" y="2139696"/>
            <a:ext cx="83088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7307F"/>
                </a:solidFill>
                <a:latin typeface="Aptos Display"/>
              </a:rPr>
              <a:t>39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2697480"/>
            <a:ext cx="11274552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928" y="2743200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 i="0">
                <a:solidFill>
                  <a:srgbClr val="57307F"/>
                </a:solidFill>
                <a:latin typeface="Aptos"/>
              </a:rPr>
              <a:t>Natural / Gentle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01568" y="2761488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83280" y="2761488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958132" y="2761488"/>
            <a:ext cx="519988" cy="457200"/>
          </a:xfrm>
          <a:prstGeom prst="rect">
            <a:avLst/>
          </a:prstGeom>
          <a:solidFill>
            <a:srgbClr val="E9C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39844" y="2761488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14697" y="2761488"/>
            <a:ext cx="519988" cy="457200"/>
          </a:xfrm>
          <a:prstGeom prst="rect">
            <a:avLst/>
          </a:prstGeom>
          <a:solidFill>
            <a:srgbClr val="E7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96409" y="2761488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71262" y="2761488"/>
            <a:ext cx="519988" cy="457200"/>
          </a:xfrm>
          <a:prstGeom prst="rect">
            <a:avLst/>
          </a:prstGeom>
          <a:solidFill>
            <a:srgbClr val="E7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52974" y="2761488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27827" y="2761488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09539" y="2761488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84391" y="2761488"/>
            <a:ext cx="519988" cy="457200"/>
          </a:xfrm>
          <a:prstGeom prst="rect">
            <a:avLst/>
          </a:prstGeom>
          <a:solidFill>
            <a:srgbClr val="E7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66104" y="2761488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40956" y="2761488"/>
            <a:ext cx="519988" cy="457200"/>
          </a:xfrm>
          <a:prstGeom prst="rect">
            <a:avLst/>
          </a:prstGeom>
          <a:solidFill>
            <a:srgbClr val="E7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22668" y="2761488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97521" y="2761488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79233" y="2761488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854086" y="2761488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35798" y="2761488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410651" y="2761488"/>
            <a:ext cx="519988" cy="457200"/>
          </a:xfrm>
          <a:prstGeom prst="rect">
            <a:avLst/>
          </a:prstGeom>
          <a:solidFill>
            <a:srgbClr val="E7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392363" y="2761488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67215" y="2761488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948927" y="2761488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523780" y="2761488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505492" y="2761488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080345" y="2761488"/>
            <a:ext cx="519988" cy="457200"/>
          </a:xfrm>
          <a:prstGeom prst="rect">
            <a:avLst/>
          </a:prstGeom>
          <a:solidFill>
            <a:srgbClr val="E9C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62057" y="2761488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636910" y="2761488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618622" y="2761488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175187" y="2743200"/>
            <a:ext cx="83088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7307F"/>
                </a:solidFill>
                <a:latin typeface="Aptos Display"/>
              </a:rPr>
              <a:t>34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57200" y="3300984"/>
            <a:ext cx="11274552" cy="585216"/>
          </a:xfrm>
          <a:prstGeom prst="rect">
            <a:avLst/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57200" y="3300984"/>
            <a:ext cx="11274552" cy="585216"/>
          </a:xfrm>
          <a:prstGeom prst="rect">
            <a:avLst/>
          </a:prstGeom>
          <a:noFill/>
          <a:ln w="19050">
            <a:solidFill>
              <a:srgbClr val="D71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66928" y="3346704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 i="0">
                <a:solidFill>
                  <a:srgbClr val="D71E83"/>
                </a:solidFill>
                <a:latin typeface="Aptos"/>
              </a:rPr>
              <a:t>Skin-Barrier Company ★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401568" y="3364992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383280" y="3364992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958132" y="3364992"/>
            <a:ext cx="519988" cy="457200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939844" y="3364992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14697" y="3364992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496409" y="3364992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071262" y="3364992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052974" y="3364992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627827" y="3364992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609539" y="3364992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184391" y="3364992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166104" y="3364992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740956" y="3364992"/>
            <a:ext cx="519988" cy="457200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722668" y="3364992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297521" y="3364992"/>
            <a:ext cx="519988" cy="457200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279233" y="3364992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854086" y="3364992"/>
            <a:ext cx="519988" cy="457200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835798" y="3364992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410651" y="3364992"/>
            <a:ext cx="519988" cy="457200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392363" y="3364992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967215" y="3364992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948927" y="3364992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523780" y="3364992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505492" y="3364992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080345" y="3364992"/>
            <a:ext cx="519988" cy="457200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062057" y="3364992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5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636910" y="3364992"/>
            <a:ext cx="519988" cy="457200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618622" y="3364992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175187" y="3346704"/>
            <a:ext cx="83088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71E83"/>
                </a:solidFill>
                <a:latin typeface="Aptos Display"/>
              </a:rPr>
              <a:t>61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57200" y="3904488"/>
            <a:ext cx="11274552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66928" y="3950208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 i="0">
                <a:solidFill>
                  <a:srgbClr val="57307F"/>
                </a:solidFill>
                <a:latin typeface="Aptos"/>
              </a:rPr>
              <a:t>First 1000 Days System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401568" y="3968496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383280" y="3968496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958132" y="3968496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939844" y="3968496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514697" y="3968496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496409" y="3968496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071262" y="3968496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052974" y="3968496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627827" y="3968496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609539" y="3968496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184391" y="3968496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166104" y="3968496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740956" y="3968496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722668" y="3968496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297521" y="3968496"/>
            <a:ext cx="519988" cy="457200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279233" y="3968496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5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854086" y="3968496"/>
            <a:ext cx="519988" cy="457200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835798" y="3968496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5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410651" y="3968496"/>
            <a:ext cx="519988" cy="457200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392363" y="3968496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967215" y="3968496"/>
            <a:ext cx="519988" cy="457200"/>
          </a:xfrm>
          <a:prstGeom prst="rect">
            <a:avLst/>
          </a:prstGeom>
          <a:solidFill>
            <a:srgbClr val="E7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948927" y="3968496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2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523780" y="3968496"/>
            <a:ext cx="519988" cy="457200"/>
          </a:xfrm>
          <a:prstGeom prst="rect">
            <a:avLst/>
          </a:prstGeom>
          <a:solidFill>
            <a:srgbClr val="E7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505492" y="3968496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2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080345" y="3968496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062057" y="3968496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0636910" y="3968496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618622" y="3968496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1175187" y="3950208"/>
            <a:ext cx="83088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7307F"/>
                </a:solidFill>
                <a:latin typeface="Aptos Display"/>
              </a:rPr>
              <a:t>52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57200" y="4507992"/>
            <a:ext cx="11274552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66928" y="4553712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 i="0">
                <a:solidFill>
                  <a:srgbClr val="57307F"/>
                </a:solidFill>
                <a:latin typeface="Aptos"/>
              </a:rPr>
              <a:t>Daily Rituals / Calm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401568" y="4572000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383280" y="4572000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958132" y="4572000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939844" y="4572000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514697" y="4572000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496409" y="4572000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071262" y="4572000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052974" y="4572000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627827" y="4572000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609539" y="4572000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184391" y="4572000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166104" y="4572000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740956" y="4572000"/>
            <a:ext cx="519988" cy="457200"/>
          </a:xfrm>
          <a:prstGeom prst="rect">
            <a:avLst/>
          </a:prstGeom>
          <a:solidFill>
            <a:srgbClr val="E7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722668" y="4572000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2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297521" y="4572000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279233" y="4572000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854086" y="4572000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835798" y="4572000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410651" y="4572000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392363" y="4572000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967215" y="4572000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8948927" y="4572000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9523780" y="4572000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505492" y="4572000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080345" y="4572000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0062057" y="4572000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0636910" y="4572000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0618622" y="4572000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175187" y="4553712"/>
            <a:ext cx="83088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7307F"/>
                </a:solidFill>
                <a:latin typeface="Aptos Display"/>
              </a:rPr>
              <a:t>45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57200" y="5111496"/>
            <a:ext cx="11274552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66928" y="5157216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 i="0">
                <a:solidFill>
                  <a:srgbClr val="57307F"/>
                </a:solidFill>
                <a:latin typeface="Aptos"/>
              </a:rPr>
              <a:t>Indian Baby Science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3401568" y="5175504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383280" y="517550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3958132" y="5175504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3939844" y="517550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514697" y="5175504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496409" y="517550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5071262" y="5175504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5052974" y="517550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5627827" y="5175504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5609539" y="517550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6184391" y="5175504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166104" y="517550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740956" y="5175504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722668" y="517550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297521" y="5175504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7279233" y="517550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7854086" y="5175504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7835798" y="517550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8410651" y="5175504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392363" y="517550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8967215" y="5175504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8948927" y="517550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9523780" y="5175504"/>
            <a:ext cx="519988" cy="457200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9505492" y="517550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3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10080345" y="5175504"/>
            <a:ext cx="519988" cy="457200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10062057" y="517550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4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10636910" y="5175504"/>
            <a:ext cx="519988" cy="457200"/>
          </a:xfrm>
          <a:prstGeom prst="rect">
            <a:avLst/>
          </a:prstGeom>
          <a:solidFill>
            <a:srgbClr val="E7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10618622" y="5175504"/>
            <a:ext cx="556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454551"/>
                </a:solidFill>
                <a:latin typeface="Aptos"/>
              </a:rPr>
              <a:t>2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1175187" y="5157216"/>
            <a:ext cx="83088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7307F"/>
                </a:solidFill>
                <a:latin typeface="Aptos Display"/>
              </a:rPr>
              <a:t>50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57200" y="58064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C8C8C"/>
                </a:solidFill>
                <a:latin typeface="Aptos"/>
              </a:rPr>
              <a:t>Scale 1–5 (5 = strongest). </a:t>
            </a:r>
            <a:r>
              <a:rPr sz="900" b="0" i="0">
                <a:solidFill>
                  <a:srgbClr val="454551"/>
                </a:solidFill>
                <a:latin typeface="Aptos"/>
              </a:rPr>
              <a:t>Skin-Barrier Company leads on 11 of 14 criteria — and every criterion that builds a moat.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138160" y="5779008"/>
            <a:ext cx="201168" cy="201168"/>
          </a:xfrm>
          <a:prstGeom prst="rect">
            <a:avLst/>
          </a:prstGeom>
          <a:solidFill>
            <a:srgbClr val="E7C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8375904" y="57698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454551"/>
                </a:solidFill>
                <a:latin typeface="Aptos"/>
              </a:rPr>
              <a:t>Weak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9006840" y="5779008"/>
            <a:ext cx="201168" cy="201168"/>
          </a:xfrm>
          <a:prstGeom prst="rect">
            <a:avLst/>
          </a:prstGeom>
          <a:solidFill>
            <a:srgbClr val="C9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9244584" y="57698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454551"/>
                </a:solidFill>
                <a:latin typeface="Aptos"/>
              </a:rPr>
              <a:t>OK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9875519" y="5779008"/>
            <a:ext cx="201168" cy="201168"/>
          </a:xfrm>
          <a:prstGeom prst="rect">
            <a:avLst/>
          </a:prstGeom>
          <a:solidFill>
            <a:srgbClr val="9EC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10113263" y="57698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454551"/>
                </a:solidFill>
                <a:latin typeface="Aptos"/>
              </a:rPr>
              <a:t>Strong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0744199" y="5779008"/>
            <a:ext cx="201168" cy="201168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0981943" y="576986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454551"/>
                </a:solidFill>
                <a:latin typeface="Aptos"/>
              </a:rPr>
              <a:t>Best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6 · DECISION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Why the other directions were rejected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645920"/>
            <a:ext cx="11274552" cy="84124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82296" cy="8412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773936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7307F"/>
                </a:solidFill>
                <a:latin typeface="Aptos Display"/>
              </a:rPr>
              <a:t>Baby Care Expert (current)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1865376"/>
            <a:ext cx="868680" cy="420624"/>
          </a:xfrm>
          <a:prstGeom prst="roundRect">
            <a:avLst>
              <a:gd name="adj" fmla="val 6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1892808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 Display"/>
              </a:rPr>
              <a:t>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755648"/>
            <a:ext cx="6629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Safe and executable, but undifferentiated and un-ownable. “Expert” is a posture every brand claims; it builds no moat and caps premium.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551176"/>
            <a:ext cx="11274552" cy="84124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551176"/>
            <a:ext cx="82296" cy="841248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67919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7307F"/>
                </a:solidFill>
                <a:latin typeface="Aptos Display"/>
              </a:rPr>
              <a:t>Natural / Gentle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4760" y="2770632"/>
            <a:ext cx="868680" cy="420624"/>
          </a:xfrm>
          <a:prstGeom prst="roundRect">
            <a:avLst>
              <a:gd name="adj" fmla="val 6000"/>
            </a:avLst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60" y="2798064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 Display"/>
              </a:rPr>
              <a:t>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2660904"/>
            <a:ext cx="6629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Lowest distinctiveness and ownability. Directly into Mamaearth's teeth with none of its D2C cost advantage. A red-ocean fight.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456432"/>
            <a:ext cx="11274552" cy="84124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456432"/>
            <a:ext cx="82296" cy="841248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584448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7307F"/>
                </a:solidFill>
                <a:latin typeface="Aptos Display"/>
              </a:rPr>
              <a:t>First 1000 Days System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94760" y="3675888"/>
            <a:ext cx="868680" cy="420624"/>
          </a:xfrm>
          <a:prstGeom prst="roundRect">
            <a:avLst>
              <a:gd name="adj" fmla="val 6000"/>
            </a:avLst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3703320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 Display"/>
              </a:rPr>
              <a:t>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3566160"/>
            <a:ext cx="6629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Powerful and the natural extension — but too broad to launch on. Hard to execute now; adopted as the long-term runway, not the entry idea.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361688"/>
            <a:ext cx="11274552" cy="84124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361688"/>
            <a:ext cx="82296" cy="841248"/>
          </a:xfrm>
          <a:prstGeom prst="rect">
            <a:avLst/>
          </a:prstGeom>
          <a:solidFill>
            <a:srgbClr val="4EA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489704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7307F"/>
                </a:solidFill>
                <a:latin typeface="Aptos Display"/>
              </a:rPr>
              <a:t>Daily Rituals / Calm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94760" y="4581144"/>
            <a:ext cx="868680" cy="420624"/>
          </a:xfrm>
          <a:prstGeom prst="roundRect">
            <a:avLst>
              <a:gd name="adj" fmla="val 6000"/>
            </a:avLst>
          </a:prstGeom>
          <a:solidFill>
            <a:srgbClr val="4EA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94760" y="4608576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 Display"/>
              </a:rPr>
              <a:t>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4471416"/>
            <a:ext cx="6629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Warm and likeable, but sacrifices the science moat only Panacea can own. Emotionally soft against value-led competitors.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266944"/>
            <a:ext cx="11274552" cy="84124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266944"/>
            <a:ext cx="82296" cy="841248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39496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7307F"/>
                </a:solidFill>
                <a:latin typeface="Aptos Display"/>
              </a:rPr>
              <a:t>Indian Baby Science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94760" y="5486400"/>
            <a:ext cx="868680" cy="420624"/>
          </a:xfrm>
          <a:prstGeom prst="roundRect">
            <a:avLst>
              <a:gd name="adj" fmla="val 6000"/>
            </a:avLst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94760" y="5513832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 Display"/>
              </a:rPr>
              <a:t>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5376672"/>
            <a:ext cx="6629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Strong and defensible, but weak international relevance and better used as a proof pillar under the barrier story than as the whole brand.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Winner: Baby Skin-Barrier Company — 62 / 70.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54864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FFFFFF"/>
                </a:solidFill>
                <a:latin typeface="Aptos Display"/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703320"/>
            <a:ext cx="1280160" cy="91440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Aptos Display"/>
              </a:rPr>
              <a:t>Final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7492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E7DDF0"/>
                </a:solidFill>
                <a:latin typeface="Aptos"/>
              </a:rPr>
              <a:t>One direction. The reasoning, the trade-offs, and the inputs it locks for Workshops 2–5.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9B8D8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7 · FINAL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The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74552" cy="1965960"/>
          </a:xfrm>
          <a:prstGeom prst="roundRect">
            <a:avLst>
              <a:gd name="adj" fmla="val 6000"/>
            </a:avLst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91640"/>
            <a:ext cx="10698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2100" b="1" i="0">
                <a:solidFill>
                  <a:srgbClr val="FFFFFF"/>
                </a:solidFill>
                <a:latin typeface="Aptos Display"/>
              </a:rPr>
              <a:t>NikoMom becomes India's Baby Skin-Barrier Company.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BDDF3"/>
                </a:solidFill>
                <a:latin typeface="Aptos"/>
              </a:rPr>
              <a:t>The pharma-backed brand — by Panacea Biotec — that protects and builds a baby's skin barrier, and turns anxious parents into confident ones through visible proof. </a:t>
            </a:r>
            <a:r>
              <a:rPr sz="1300" b="1" i="0">
                <a:solidFill>
                  <a:srgbClr val="FFFFFF"/>
                </a:solidFill>
                <a:latin typeface="Aptos"/>
              </a:rPr>
              <a:t>We don't sell safety. We prove protection.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1">
                <a:solidFill>
                  <a:srgbClr val="D9C4E8"/>
                </a:solidFill>
                <a:latin typeface="Aptos"/>
              </a:rPr>
              <a:t>Signature idea:  “Protection, proven.”      Emotion owned: confidence.      Moat: pharma science + Indian barrier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03320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408736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FROM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3886200"/>
            <a:ext cx="9509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54551"/>
                </a:solidFill>
                <a:latin typeface="Aptos"/>
              </a:rPr>
              <a:t>Baby Care Expert · reassurance · gentle &amp; safe · four technologies · mother-hero · trust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60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532180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5120640"/>
            <a:ext cx="9509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7307F"/>
                </a:solidFill>
                <a:latin typeface="Aptos"/>
              </a:rPr>
              <a:t>Baby Skin-Barrier Company · confidence · protection proven · one BarrierNest™ · baby-outcome hero · proof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7 · FINAL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One idea that works everywhere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“Protection, proven” must survive every touchpoint. It does — because it is a system, not a slogan.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48840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148840"/>
            <a:ext cx="2670048" cy="82296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6829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71E83"/>
                </a:solidFill>
                <a:latin typeface="Aptos Display"/>
              </a:rPr>
              <a:t>Packaging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3464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Outcome + one proof device + BarrierNest™ signature; structure as mnemonic.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73552" y="2148840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73552" y="2148840"/>
            <a:ext cx="2670048" cy="82296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236829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775E7"/>
                </a:solidFill>
                <a:latin typeface="Aptos Display"/>
              </a:rPr>
              <a:t>Amazon / Q-commerce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83464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Outcome-led thumbnails; A+ proof modules; searchable descriptive names.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9904" y="2148840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9904" y="2148840"/>
            <a:ext cx="2670048" cy="82296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236829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9F25"/>
                </a:solidFill>
                <a:latin typeface="Aptos Display"/>
              </a:rPr>
              <a:t>Doctors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283464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Paediatrician &amp; derm proof leads — pharma credibility is native here.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6256" y="2148840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6256" y="2148840"/>
            <a:ext cx="2670048" cy="82296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89136" y="236829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971E1"/>
                </a:solidFill>
                <a:latin typeface="Aptos Display"/>
              </a:rPr>
              <a:t>Website / CRM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9136" y="283464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The barrier-science story + “what to expect” outcome ladder.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14800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114800"/>
            <a:ext cx="2670048" cy="82296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33425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79631"/>
                </a:solidFill>
                <a:latin typeface="Aptos Display"/>
              </a:rPr>
              <a:t>WhatsApp companion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80060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A daily routine coach — the confidence engine and retention moat.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3552" y="4114800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73552" y="4114800"/>
            <a:ext cx="2670048" cy="82296"/>
          </a:xfrm>
          <a:prstGeom prst="rect">
            <a:avLst/>
          </a:prstGeom>
          <a:solidFill>
            <a:srgbClr val="4EA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56432" y="433425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EA6DC"/>
                </a:solidFill>
                <a:latin typeface="Aptos Display"/>
              </a:rPr>
              <a:t>Subscriptions / refills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6432" y="480060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Barrier routine kits by growth stage; refills lower cost &amp; waste.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89904" y="4114800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89904" y="4114800"/>
            <a:ext cx="2670048" cy="82296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72784" y="433425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71E83"/>
                </a:solidFill>
                <a:latin typeface="Aptos Display"/>
              </a:rPr>
              <a:t>Community / sampling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72784" y="480060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“Barrier Club” — proof shared parent-to-parent; UGC of real outcomes.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06256" y="4114800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06256" y="4114800"/>
            <a:ext cx="2670048" cy="82296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89136" y="433425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7307F"/>
                </a:solidFill>
                <a:latin typeface="Aptos Display"/>
              </a:rPr>
              <a:t>International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89136" y="480060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Barrier science travels; India-relevance localises without a rebrand.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7 · FINAL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Trade-offs we accept, with eyes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737360"/>
            <a:ext cx="5486400" cy="128016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37360"/>
            <a:ext cx="82296" cy="1280160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83664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71E83"/>
                </a:solidFill>
                <a:latin typeface="Aptos"/>
              </a:rPr>
              <a:t>⚠  </a:t>
            </a:r>
            <a:r>
              <a:rPr sz="1250" b="1" i="0">
                <a:solidFill>
                  <a:srgbClr val="57307F"/>
                </a:solidFill>
                <a:latin typeface="Aptos Display"/>
              </a:rPr>
              <a:t>Higher proof burden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304288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We must fund real clinical/derm substantiation. But it's exactly the moat competitors can't cross.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737360"/>
            <a:ext cx="5486400" cy="128016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9904" y="1737360"/>
            <a:ext cx="82296" cy="1280160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1883664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775E7"/>
                </a:solidFill>
                <a:latin typeface="Aptos"/>
              </a:rPr>
              <a:t>⚠  </a:t>
            </a:r>
            <a:r>
              <a:rPr sz="1250" b="1" i="0">
                <a:solidFill>
                  <a:srgbClr val="57307F"/>
                </a:solidFill>
                <a:latin typeface="Aptos Display"/>
              </a:rPr>
              <a:t>Slower, costlier than “natural”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304288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Science credibility takes investment. Panacea's R&amp;D makes it feasible where D2C cannot follow.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54680"/>
            <a:ext cx="5486400" cy="128016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154680"/>
            <a:ext cx="82296" cy="1280160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300984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79631"/>
                </a:solidFill>
                <a:latin typeface="Aptos"/>
              </a:rPr>
              <a:t>⚠  </a:t>
            </a:r>
            <a:r>
              <a:rPr sz="1250" b="1" i="0">
                <a:solidFill>
                  <a:srgbClr val="57307F"/>
                </a:solidFill>
                <a:latin typeface="Aptos Display"/>
              </a:rPr>
              <a:t>Warmth risk (too clinical)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721608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“Clinical Warmth” world + “Niko” name deliberately re-inject the human. Monitored in Workshop 4.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9904" y="3154680"/>
            <a:ext cx="5486400" cy="128016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9904" y="3154680"/>
            <a:ext cx="82296" cy="1280160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4" y="3300984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971E1"/>
                </a:solidFill>
                <a:latin typeface="Aptos"/>
              </a:rPr>
              <a:t>⚠  </a:t>
            </a:r>
            <a:r>
              <a:rPr sz="1250" b="1" i="0">
                <a:solidFill>
                  <a:srgbClr val="57307F"/>
                </a:solidFill>
                <a:latin typeface="Aptos Display"/>
              </a:rPr>
              <a:t>Name tension (Mom vs baby-hero)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3721608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We keep equity and reframe meaning — accepting a managed tension over a costly rename.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5486400" cy="128016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572000"/>
            <a:ext cx="82296" cy="1280160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718304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9F25"/>
                </a:solidFill>
                <a:latin typeface="Aptos"/>
              </a:rPr>
              <a:t>⚠  </a:t>
            </a:r>
            <a:r>
              <a:rPr sz="1250" b="1" i="0">
                <a:solidFill>
                  <a:srgbClr val="57307F"/>
                </a:solidFill>
                <a:latin typeface="Aptos Display"/>
              </a:rPr>
              <a:t>Education need for “barrier”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138928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The barrier idea needs teaching — but that's the parent's exact unanswered question. Content is the product.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9904" y="4572000"/>
            <a:ext cx="5486400" cy="128016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89904" y="4572000"/>
            <a:ext cx="82296" cy="1280160"/>
          </a:xfrm>
          <a:prstGeom prst="rect">
            <a:avLst/>
          </a:prstGeom>
          <a:solidFill>
            <a:srgbClr val="4EA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18504" y="4718304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EA6DC"/>
                </a:solidFill>
                <a:latin typeface="Aptos"/>
              </a:rPr>
              <a:t>⚠  </a:t>
            </a:r>
            <a:r>
              <a:rPr sz="1250" b="1" i="0">
                <a:solidFill>
                  <a:srgbClr val="57307F"/>
                </a:solidFill>
                <a:latin typeface="Aptos Display"/>
              </a:rPr>
              <a:t>Premium vs mass reach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8504" y="5138928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Anchor premium via proof; ladder to accessible SKUs so credibility trickles down, not up.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Net:  </a:t>
            </a:r>
            <a:r>
              <a:rPr sz="1100" b="0" i="0">
                <a:solidFill>
                  <a:srgbClr val="454551"/>
                </a:solidFill>
                <a:latin typeface="Aptos"/>
              </a:rPr>
              <a:t>Every trade-off is on the side of the moat. The hard parts are exactly what makes the position ownable.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7 · FINAL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What this locks for Workshops 2–5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Workshop 1 constrains everything downstream. These are the locked inputs the next four workshops must build within.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48840"/>
            <a:ext cx="5486400" cy="17830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148840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404872"/>
            <a:ext cx="5486400" cy="246888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231136"/>
            <a:ext cx="5029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ptos Display"/>
              </a:rPr>
              <a:t>W2 — Define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807208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Claims ladder from OUTCOME → proof. BarrierNest™ is the single technology narrative. “What to expect” outcome ladder is the spine.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2148840"/>
            <a:ext cx="5486400" cy="17830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89904" y="2148840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9904" y="2404872"/>
            <a:ext cx="5486400" cy="246888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2231136"/>
            <a:ext cx="5029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ptos Display"/>
              </a:rPr>
              <a:t>W3 — Meaning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2807208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Purpose: confident parenting through proven protection. Voice: warm-but-precise (“clinical warmth”). Positioning: the Baby Skin-Barrier Company.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69080"/>
            <a:ext cx="5486400" cy="17830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4069080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25112"/>
            <a:ext cx="5486400" cy="246888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151376"/>
            <a:ext cx="5029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ptos Display"/>
              </a:rPr>
              <a:t>W4 — Translate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727448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Visual world: Clinical Warmth. Structure as mnemonic. Outcome-coded colour. One proof device. Baby-outcome hero imagery.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9904" y="4069080"/>
            <a:ext cx="5486400" cy="17830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089904" y="4069080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9904" y="4325112"/>
            <a:ext cx="5486400" cy="246888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18504" y="4151376"/>
            <a:ext cx="5029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ptos Display"/>
              </a:rPr>
              <a:t>W5 — Finalise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8504" y="4727448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Pressure-test “Protection, proven” across pack, Amazon, doctor, WhatsApp companion, subscription and community without breaking.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4775E7"/>
                </a:solidFill>
                <a:latin typeface="Aptos"/>
              </a:rPr>
              <a:t>1  Understand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7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7207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2  Define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74336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74336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Aptos"/>
              </a:rPr>
              <a:t>3  Meaning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41463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41463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Aptos"/>
              </a:rPr>
              <a:t>4  Translate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08591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1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Aptos"/>
              </a:rPr>
              <a:t>5  Finalise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775E7"/>
                </a:solidFill>
                <a:latin typeface="Aptos"/>
              </a:rPr>
              <a:t>WORKSHOP 2 OF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783080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57307F"/>
                </a:solidFill>
                <a:latin typeface="Aptos Display"/>
              </a:rPr>
              <a:t>Product Truth &amp; Claim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7889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4775E7"/>
                </a:solidFill>
                <a:latin typeface="Aptos"/>
              </a:rPr>
              <a:t>What exactly does each product solve — and what earns its place on pack?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40"/>
            <a:ext cx="10881360" cy="251460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03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775E7"/>
                </a:solidFill>
                <a:latin typeface="Aptos"/>
              </a:rPr>
              <a:t>ON THE AGENDA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14800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The claim principle: outcome first, proof second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One technology platform: four barrier actions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The outcome ladder as a proof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114800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Per-product claim architecture (all six SKUs)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Front-of-pack vs back-of-pack hierarchy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Trust &amp; proof: the Panacea assurance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WORKSHOP 2 · CLAIM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Every claim must earn its place — and ladder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37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The current packs bury the outcome under ingredients and technology. We invert it. A parent decides in 8 seconds — so the </a:t>
            </a:r>
            <a:r>
              <a:rPr sz="1200" b="1" i="0">
                <a:solidFill>
                  <a:srgbClr val="57307F"/>
                </a:solidFill>
                <a:latin typeface="Aptos"/>
              </a:rPr>
              <a:t>visible outcome leads, and everything below it exists only to prove that outcome.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40280"/>
            <a:ext cx="11274552" cy="65836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40280"/>
            <a:ext cx="109728" cy="658368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276856"/>
            <a:ext cx="21031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71E83"/>
                </a:solidFill>
                <a:latin typeface="Aptos Display"/>
              </a:rPr>
              <a:t>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276856"/>
            <a:ext cx="39319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What the parent sees &amp; feels — the hero claim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276856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7307F"/>
                </a:solidFill>
                <a:latin typeface="Aptos"/>
              </a:rPr>
              <a:t>“Skin stays soft and protected for 24 hours.”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53512"/>
            <a:ext cx="11274552" cy="65836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953512"/>
            <a:ext cx="109728" cy="658368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90088"/>
            <a:ext cx="21031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775E7"/>
                </a:solidFill>
                <a:latin typeface="Aptos Display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990088"/>
            <a:ext cx="39319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The evidence that makes it believable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990088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7307F"/>
                </a:solidFill>
                <a:latin typeface="Aptos"/>
              </a:rPr>
              <a:t>“+100% hydration in 30 min · dermatologically tested”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66744"/>
            <a:ext cx="11274552" cy="65836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666744"/>
            <a:ext cx="109728" cy="658368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703320"/>
            <a:ext cx="21031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971E1"/>
                </a:solidFill>
                <a:latin typeface="Aptos Display"/>
              </a:rPr>
              <a:t>TECHNOLOGY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703320"/>
            <a:ext cx="39319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The named reason it works — one signature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703320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7307F"/>
                </a:solidFill>
                <a:latin typeface="Aptos"/>
              </a:rPr>
              <a:t>“Powered by BarrierNest™”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379976"/>
            <a:ext cx="11274552" cy="65836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379976"/>
            <a:ext cx="109728" cy="658368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416552"/>
            <a:ext cx="21031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B9F25"/>
                </a:solidFill>
                <a:latin typeface="Aptos Display"/>
              </a:rPr>
              <a:t>INGREDIENTS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416552"/>
            <a:ext cx="39319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Supporting reason-to-believe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416552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7307F"/>
                </a:solidFill>
                <a:latin typeface="Aptos"/>
              </a:rPr>
              <a:t>“Ghee, mango butter, jojoba, aloe”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093208"/>
            <a:ext cx="11274552" cy="65836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093208"/>
            <a:ext cx="109728" cy="658368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129784"/>
            <a:ext cx="21031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79631"/>
                </a:solidFill>
                <a:latin typeface="Aptos Display"/>
              </a:rPr>
              <a:t>ASSURANCE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129784"/>
            <a:ext cx="39319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The trust anchor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129784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7307F"/>
                </a:solidFill>
                <a:latin typeface="Aptos"/>
              </a:rPr>
              <a:t>“Assurance of Panacea Biotec”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The ladder is identical on every SKU. </a:t>
            </a:r>
            <a:r>
              <a:rPr sz="1100" b="0" i="0">
                <a:solidFill>
                  <a:srgbClr val="454551"/>
                </a:solidFill>
                <a:latin typeface="Aptos"/>
              </a:rPr>
              <a:t>That repetition is what turns six products into one recognisable system.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WORKSHOP 2 · TECHNOLOGY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Four technologies become one: BarrierNest™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38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36192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We retire HydraNest, TenderNest, DermaNest &amp; HealNest as separate brands. One master platform signs the science; </a:t>
            </a:r>
            <a:r>
              <a:rPr sz="1200" b="1" i="0">
                <a:solidFill>
                  <a:srgbClr val="57307F"/>
                </a:solidFill>
                <a:latin typeface="Aptos"/>
              </a:rPr>
              <a:t>four plain-language barrier actions</a:t>
            </a:r>
            <a:r>
              <a:rPr sz="1200" b="0" i="0">
                <a:solidFill>
                  <a:srgbClr val="454551"/>
                </a:solidFill>
                <a:latin typeface="Aptos"/>
              </a:rPr>
              <a:t> tell each product's job.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48840"/>
            <a:ext cx="11274552" cy="1051560"/>
          </a:xfrm>
          <a:prstGeom prst="roundRect">
            <a:avLst>
              <a:gd name="adj" fmla="val 6000"/>
            </a:avLst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3657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ptos Display"/>
              </a:rPr>
              <a:t>BarrierNest™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BDDF3"/>
                </a:solidFill>
                <a:latin typeface="Aptos"/>
              </a:rPr>
              <a:t>The protective science signature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48716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4EA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Cleanse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48716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Hydrate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48716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Repair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19" y="2487168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Protect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775E7"/>
                </a:solidFill>
                <a:latin typeface="Aptos"/>
              </a:rPr>
              <a:t>HOW IT MAPS TO THE RANGE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94760"/>
            <a:ext cx="11274552" cy="36576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94760"/>
            <a:ext cx="82296" cy="365760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831336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NikoMom Baby Massage Oil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831336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C8C8C"/>
                </a:solidFill>
                <a:latin typeface="Aptos"/>
              </a:rPr>
              <a:t>was </a:t>
            </a:r>
            <a:r>
              <a:rPr sz="950" b="0" i="1">
                <a:solidFill>
                  <a:srgbClr val="8C8C8C"/>
                </a:solidFill>
                <a:latin typeface="Aptos"/>
              </a:rPr>
              <a:t>HydraNest Technology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831336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79631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831336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54551"/>
                </a:solidFill>
                <a:latin typeface="Aptos"/>
              </a:rPr>
              <a:t>BarrierNest™ · </a:t>
            </a:r>
            <a:r>
              <a:rPr sz="1050" b="1" i="0">
                <a:solidFill>
                  <a:srgbClr val="F79631"/>
                </a:solidFill>
                <a:latin typeface="Aptos"/>
              </a:rPr>
              <a:t>Nourish &amp; Seal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74236"/>
            <a:ext cx="11274552" cy="36576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174236"/>
            <a:ext cx="82296" cy="365760"/>
          </a:xfrm>
          <a:prstGeom prst="rect">
            <a:avLst/>
          </a:prstGeom>
          <a:solidFill>
            <a:srgbClr val="4EA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210812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NikoMom Head-to-Toe Wash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210812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C8C8C"/>
                </a:solidFill>
                <a:latin typeface="Aptos"/>
              </a:rPr>
              <a:t>was </a:t>
            </a:r>
            <a:r>
              <a:rPr sz="950" b="0" i="1">
                <a:solidFill>
                  <a:srgbClr val="8C8C8C"/>
                </a:solidFill>
                <a:latin typeface="Aptos"/>
              </a:rPr>
              <a:t>TenderNest Technology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210812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EA6DC"/>
                </a:solidFill>
                <a:latin typeface="Apto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210812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54551"/>
                </a:solidFill>
                <a:latin typeface="Aptos"/>
              </a:rPr>
              <a:t>BarrierNest™ · </a:t>
            </a:r>
            <a:r>
              <a:rPr sz="1050" b="1" i="0">
                <a:solidFill>
                  <a:srgbClr val="4EA6DC"/>
                </a:solidFill>
                <a:latin typeface="Aptos"/>
              </a:rPr>
              <a:t>Cleanse &amp; Preserve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553712"/>
            <a:ext cx="11274552" cy="36576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553712"/>
            <a:ext cx="82296" cy="365760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590288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NikoMom Daily Lotion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590288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C8C8C"/>
                </a:solidFill>
                <a:latin typeface="Aptos"/>
              </a:rPr>
              <a:t>was </a:t>
            </a:r>
            <a:r>
              <a:rPr sz="950" b="0" i="1">
                <a:solidFill>
                  <a:srgbClr val="8C8C8C"/>
                </a:solidFill>
                <a:latin typeface="Aptos"/>
              </a:rPr>
              <a:t>DermaNest Technology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590288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8971E1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590288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54551"/>
                </a:solidFill>
                <a:latin typeface="Aptos"/>
              </a:rPr>
              <a:t>BarrierNest™ · </a:t>
            </a:r>
            <a:r>
              <a:rPr sz="1050" b="1" i="0">
                <a:solidFill>
                  <a:srgbClr val="8971E1"/>
                </a:solidFill>
                <a:latin typeface="Aptos"/>
              </a:rPr>
              <a:t>Hydrate &amp; Strengthen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933188"/>
            <a:ext cx="11274552" cy="36576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933188"/>
            <a:ext cx="82296" cy="365760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969764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NikoMom Diaper Rash Cream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4969764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C8C8C"/>
                </a:solidFill>
                <a:latin typeface="Aptos"/>
              </a:rPr>
              <a:t>was </a:t>
            </a:r>
            <a:r>
              <a:rPr sz="950" b="0" i="1">
                <a:solidFill>
                  <a:srgbClr val="8C8C8C"/>
                </a:solidFill>
                <a:latin typeface="Aptos"/>
              </a:rPr>
              <a:t>HealNest Technology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4969764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969764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54551"/>
                </a:solidFill>
                <a:latin typeface="Aptos"/>
              </a:rPr>
              <a:t>BarrierNest™ · </a:t>
            </a:r>
            <a:r>
              <a:rPr sz="1050" b="1" i="0">
                <a:solidFill>
                  <a:srgbClr val="D71E83"/>
                </a:solidFill>
                <a:latin typeface="Aptos"/>
              </a:rPr>
              <a:t>Repair &amp; Shield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312664"/>
            <a:ext cx="11274552" cy="36576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5312664"/>
            <a:ext cx="82296" cy="365760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534924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NikoMom Baby Diapers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5349240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C8C8C"/>
                </a:solidFill>
                <a:latin typeface="Aptos"/>
              </a:rPr>
              <a:t>was </a:t>
            </a:r>
            <a:r>
              <a:rPr sz="950" b="0" i="1">
                <a:solidFill>
                  <a:srgbClr val="8C8C8C"/>
                </a:solidFill>
                <a:latin typeface="Aptos"/>
              </a:rPr>
              <a:t>ADL Technology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5349240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B9F25"/>
                </a:solidFill>
                <a:latin typeface="Aptos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534924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54551"/>
                </a:solidFill>
                <a:latin typeface="Aptos"/>
              </a:rPr>
              <a:t>BarrierNest™ · </a:t>
            </a:r>
            <a:r>
              <a:rPr sz="1050" b="1" i="0">
                <a:solidFill>
                  <a:srgbClr val="6B9F25"/>
                </a:solidFill>
                <a:latin typeface="Aptos"/>
              </a:rPr>
              <a:t>Dry &amp; Protect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692140"/>
            <a:ext cx="11274552" cy="36576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5692140"/>
            <a:ext cx="82296" cy="365760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" y="5728716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NikoMom Wet Wipes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0" y="5728716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C8C8C"/>
                </a:solidFill>
                <a:latin typeface="Aptos"/>
              </a:rPr>
              <a:t>was </a:t>
            </a:r>
            <a:r>
              <a:rPr sz="950" b="0" i="1">
                <a:solidFill>
                  <a:srgbClr val="8C8C8C"/>
                </a:solidFill>
                <a:latin typeface="Aptos"/>
              </a:rPr>
              <a:t>Pure Water Technology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5728716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775E7"/>
                </a:solidFill>
                <a:latin typeface="Aptos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5728716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54551"/>
                </a:solidFill>
                <a:latin typeface="Aptos"/>
              </a:rPr>
              <a:t>BarrierNest™ · </a:t>
            </a:r>
            <a:r>
              <a:rPr sz="1050" b="1" i="0">
                <a:solidFill>
                  <a:srgbClr val="4775E7"/>
                </a:solidFill>
                <a:latin typeface="Aptos"/>
              </a:rPr>
              <a:t>Purely Clean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WORKSHOP 2 · OUTCOME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The outcome ladder — our proof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39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Every pack answers one question the category dodges: </a:t>
            </a:r>
            <a:r>
              <a:rPr sz="1200" b="1" i="0">
                <a:solidFill>
                  <a:srgbClr val="D71E83"/>
                </a:solidFill>
                <a:latin typeface="Aptos"/>
              </a:rPr>
              <a:t>“What will I actually see, and when?”</a:t>
            </a:r>
            <a:r>
              <a:rPr sz="1200" b="0" i="0">
                <a:solidFill>
                  <a:srgbClr val="454551"/>
                </a:solidFill>
                <a:latin typeface="Aptos"/>
              </a:rPr>
              <a:t> A three-step ladder turns science into a visible, time-bound promise.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3611880" cy="173736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3611880" cy="82296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71E83"/>
                </a:solidFill>
                <a:latin typeface="Aptos Display"/>
              </a:rPr>
              <a:t>FIRST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5292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7307F"/>
                </a:solidFill>
                <a:latin typeface="Aptos"/>
              </a:rPr>
              <a:t>Immediate, sensory proof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20040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Soft, calm, non-greasy skin from the very first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88036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8D9DC"/>
                </a:solidFill>
                <a:latin typeface="Aptos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4528" y="2286000"/>
            <a:ext cx="3611880" cy="173736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24528" y="2286000"/>
            <a:ext cx="3611880" cy="82296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24688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971E1"/>
                </a:solidFill>
                <a:latin typeface="Aptos Display"/>
              </a:rPr>
              <a:t>7–14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285292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7307F"/>
                </a:solidFill>
                <a:latin typeface="Aptos"/>
              </a:rPr>
              <a:t>Visible change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320040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Less dryness, less redness, smoother and calmer skin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8" y="288036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8D9DC"/>
                </a:solidFill>
                <a:latin typeface="Aptos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91856" y="2286000"/>
            <a:ext cx="3611880" cy="173736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91856" y="2286000"/>
            <a:ext cx="3611880" cy="82296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0456" y="24688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B9F25"/>
                </a:solidFill>
                <a:latin typeface="Aptos Display"/>
              </a:rPr>
              <a:t>CONTINUED 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0456" y="285292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7307F"/>
                </a:solidFill>
                <a:latin typeface="Aptos"/>
              </a:rPr>
              <a:t>The real payoff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6" y="320040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A stronger barrier and fewer flare-ups over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20624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775E7"/>
                </a:solidFill>
                <a:latin typeface="Aptos"/>
              </a:rPr>
              <a:t>PROVEN, PER PRODUCT — REAL PERFORMANCE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572000"/>
            <a:ext cx="5486400" cy="621792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572000"/>
            <a:ext cx="73152" cy="621792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626864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Baby Massage Oil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4626864"/>
            <a:ext cx="32004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54551"/>
                </a:solidFill>
                <a:latin typeface="Aptos"/>
              </a:rPr>
              <a:t>+100% skin moisture in 30 min · 60%+ still held at 12 hrs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89904" y="4572000"/>
            <a:ext cx="5486400" cy="62179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89904" y="4572000"/>
            <a:ext cx="73152" cy="621792"/>
          </a:xfrm>
          <a:prstGeom prst="rect">
            <a:avLst/>
          </a:prstGeom>
          <a:solidFill>
            <a:srgbClr val="4EA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4626864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Head-to-Toe Wash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4464" y="4626864"/>
            <a:ext cx="32004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54551"/>
                </a:solidFill>
                <a:latin typeface="Aptos"/>
              </a:rPr>
              <a:t>pH 5.5 · 100% of parents: tear-free, mild &amp; leaves skin soft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285232"/>
            <a:ext cx="5486400" cy="621792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285232"/>
            <a:ext cx="73152" cy="621792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5340096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Daily Lotion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5340096"/>
            <a:ext cx="32004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54551"/>
                </a:solidFill>
                <a:latin typeface="Aptos"/>
              </a:rPr>
              <a:t>+100% hydration in 30 min · 2× hydrated even at 6 hrs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89904" y="5285232"/>
            <a:ext cx="5486400" cy="62179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89904" y="5285232"/>
            <a:ext cx="73152" cy="621792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5340096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Diaper Rash Cream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4464" y="5340096"/>
            <a:ext cx="32004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54551"/>
                </a:solidFill>
                <a:latin typeface="Aptos"/>
              </a:rPr>
              <a:t>50% improvement in 2 days · 100% in 7 days · no recurrence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WORKSHOP 2 · THE SIX SKUS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Per-product claim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1274552" cy="384048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27048"/>
            <a:ext cx="1828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527048"/>
            <a:ext cx="4480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HERO CLAIM (OUTCOME-LED)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527048"/>
            <a:ext cx="2743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1527048"/>
            <a:ext cx="1828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KEY INGREDIENTS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874519"/>
            <a:ext cx="11274552" cy="71323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874519"/>
            <a:ext cx="82296" cy="713232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947672"/>
            <a:ext cx="1828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7307F"/>
                </a:solidFill>
                <a:latin typeface="Aptos"/>
              </a:rPr>
              <a:t>Baby Massage Oil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79631"/>
                </a:solidFill>
                <a:latin typeface="Aptos"/>
              </a:rPr>
              <a:t>BarrierNest · Nourish &amp; Seal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1929384"/>
            <a:ext cx="4434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454551"/>
                </a:solidFill>
                <a:latin typeface="Aptos"/>
              </a:rPr>
              <a:t>Fast-absorbing daily massage oil that locks moisture into the skin barrier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929384"/>
            <a:ext cx="2743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454551"/>
                </a:solidFill>
                <a:latin typeface="Aptos"/>
              </a:rPr>
              <a:t>+100% skin moisture in 30 min · 60%+ still held at 12 hrs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1929384"/>
            <a:ext cx="187451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454551"/>
                </a:solidFill>
                <a:latin typeface="Aptos"/>
              </a:rPr>
              <a:t>10 cold-pressed oils + Vitamin 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606039"/>
            <a:ext cx="11274552" cy="71323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606039"/>
            <a:ext cx="82296" cy="713232"/>
          </a:xfrm>
          <a:prstGeom prst="rect">
            <a:avLst/>
          </a:prstGeom>
          <a:solidFill>
            <a:srgbClr val="4EA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79191"/>
            <a:ext cx="1828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7307F"/>
                </a:solidFill>
                <a:latin typeface="Aptos"/>
              </a:rPr>
              <a:t>Head-to-Toe Wash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EA6DC"/>
                </a:solidFill>
                <a:latin typeface="Aptos"/>
              </a:rPr>
              <a:t>BarrierNest · Cleanse &amp; Preserve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2660903"/>
            <a:ext cx="4434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454551"/>
                </a:solidFill>
                <a:latin typeface="Aptos"/>
              </a:rPr>
              <a:t>3-in-1 wash that cleans without stripping the barrier — no tears, no dryness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660903"/>
            <a:ext cx="2743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454551"/>
                </a:solidFill>
                <a:latin typeface="Aptos"/>
              </a:rPr>
              <a:t>pH 5.5 · 100% of parents: tear-free, mild &amp; leaves skin soft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660903"/>
            <a:ext cx="187451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454551"/>
                </a:solidFill>
                <a:latin typeface="Aptos"/>
              </a:rPr>
              <a:t>Triple-Sugar Complex (Aquaxyl), Oat, Neem, Aloe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37559"/>
            <a:ext cx="11274552" cy="71323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337559"/>
            <a:ext cx="82296" cy="713232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410711"/>
            <a:ext cx="1828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7307F"/>
                </a:solidFill>
                <a:latin typeface="Aptos"/>
              </a:rPr>
              <a:t>Daily Lotion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8971E1"/>
                </a:solidFill>
                <a:latin typeface="Aptos"/>
              </a:rPr>
              <a:t>BarrierNest · Hydrate &amp; Strengthen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3392423"/>
            <a:ext cx="4434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454551"/>
                </a:solidFill>
                <a:latin typeface="Aptos"/>
              </a:rPr>
              <a:t>24-hour barrier hydration that cuts water loss and builds resilience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392423"/>
            <a:ext cx="2743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454551"/>
                </a:solidFill>
                <a:latin typeface="Aptos"/>
              </a:rPr>
              <a:t>+100% hydration in 30 min · 2× hydrated even at 6 hrs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3392423"/>
            <a:ext cx="187451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454551"/>
                </a:solidFill>
                <a:latin typeface="Aptos"/>
              </a:rPr>
              <a:t>Ghee, Mango Butter, Coconut, Jojoba, Aloe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069079"/>
            <a:ext cx="11274552" cy="71323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069079"/>
            <a:ext cx="82296" cy="713232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142231"/>
            <a:ext cx="1828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7307F"/>
                </a:solidFill>
                <a:latin typeface="Aptos"/>
              </a:rPr>
              <a:t>Diaper Rash Cream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D71E83"/>
                </a:solidFill>
                <a:latin typeface="Aptos"/>
              </a:rPr>
              <a:t>BarrierNest · Repair &amp; Shield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4123943"/>
            <a:ext cx="4434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454551"/>
                </a:solidFill>
                <a:latin typeface="Aptos"/>
              </a:rPr>
              <a:t>Soothes and prevents rash by repairing and shielding the barrier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123943"/>
            <a:ext cx="2743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454551"/>
                </a:solidFill>
                <a:latin typeface="Aptos"/>
              </a:rPr>
              <a:t>50% improvement in 2 days · 100% in 7 days · no recurrence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4123943"/>
            <a:ext cx="187451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454551"/>
                </a:solidFill>
                <a:latin typeface="Aptos"/>
              </a:rPr>
              <a:t>Oat Oil, Ghee, Coconut, Vetiver, Primrose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800599"/>
            <a:ext cx="11274552" cy="71323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4800599"/>
            <a:ext cx="82296" cy="713232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873751"/>
            <a:ext cx="1828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7307F"/>
                </a:solidFill>
                <a:latin typeface="Aptos"/>
              </a:rPr>
              <a:t>Baby Diapers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6B9F25"/>
                </a:solidFill>
                <a:latin typeface="Aptos"/>
              </a:rPr>
              <a:t>BarrierNest · Dry &amp; Protect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80" y="4855463"/>
            <a:ext cx="4434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454551"/>
                </a:solidFill>
                <a:latin typeface="Aptos"/>
              </a:rPr>
              <a:t>Ultra-soft, breathable dryness that keeps the barrier calm day and night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855463"/>
            <a:ext cx="2743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454551"/>
                </a:solidFill>
                <a:latin typeface="Aptos"/>
              </a:rPr>
              <a:t>Dry after 5 wettings · up to 12 hrs · wetness indicator · aloe anti-rash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4855463"/>
            <a:ext cx="187451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454551"/>
                </a:solidFill>
                <a:latin typeface="Aptos"/>
              </a:rPr>
              <a:t>ADL core + soft non-woven top-sheet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532119"/>
            <a:ext cx="11274552" cy="71323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5532119"/>
            <a:ext cx="82296" cy="713232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605271"/>
            <a:ext cx="1828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7307F"/>
                </a:solidFill>
                <a:latin typeface="Aptos"/>
              </a:rPr>
              <a:t>Wet Wipes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775E7"/>
                </a:solidFill>
                <a:latin typeface="Aptos"/>
              </a:rPr>
              <a:t>BarrierNest · Purely Clean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68880" y="5586983"/>
            <a:ext cx="4434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454551"/>
                </a:solidFill>
                <a:latin typeface="Aptos"/>
              </a:rPr>
              <a:t>99.9% pure-water wipes — safe from Day 1, with nothing to hide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0" y="5586983"/>
            <a:ext cx="2743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454551"/>
                </a:solidFill>
                <a:latin typeface="Aptos"/>
              </a:rPr>
              <a:t>Paediatrician recommended · 100% biodegradable plant fabric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29800" y="5586983"/>
            <a:ext cx="187451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454551"/>
                </a:solidFill>
                <a:latin typeface="Aptos"/>
              </a:rPr>
              <a:t>99.9% pure water + soothing Aloe Vera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WORKSHOP 2 · PACK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What goes on the front — and what waits on the 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36192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The front sells the decision in 8 seconds. The back rewards the parent who turns it over. Nothing competes; everything ranks.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48840"/>
            <a:ext cx="5440680" cy="3931920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3317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D71E83"/>
                </a:solidFill>
                <a:latin typeface="Aptos Display"/>
              </a:rPr>
              <a:t>FRONT OF PACK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1">
                <a:solidFill>
                  <a:srgbClr val="8C8C8C"/>
                </a:solidFill>
                <a:latin typeface="Aptos"/>
              </a:rPr>
              <a:t>The 8-second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49377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454551"/>
                </a:solidFill>
                <a:latin typeface="Aptos"/>
              </a:rPr>
              <a:t>1  Hero OUTCOME claim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454551"/>
                </a:solidFill>
                <a:latin typeface="Aptos"/>
              </a:rPr>
              <a:t>2  BarrierNest™ signature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3  One proof mark (derm / paediatrician)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4  Key ingredient or 3-in-1 descriptor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5  Assurance of Panacea Biotec + 7N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6  Net weight / variant colour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148840"/>
            <a:ext cx="5394960" cy="393192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3317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BACK OF PACK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1">
                <a:solidFill>
                  <a:srgbClr val="8C8C8C"/>
                </a:solidFill>
                <a:latin typeface="Aptos"/>
              </a:rPr>
              <a:t>The reward for turning 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063240"/>
            <a:ext cx="49377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•  Barrier-science story (how it protects)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•  The outcome ladder — what to expect, when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•  Full ingredient story &amp; hero actives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•  Directions &amp; habit framing (daily ritual)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•  No-No ingredients + certifications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•  Regulatory, FSSAI, batch, Made-in-India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•  Other products from the NikoMom family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WORKSHOP 2 · TRUST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Trust &amp; proof: the Panacea assurance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The current packs list 10+ scattered assurances. We tier them into </a:t>
            </a:r>
            <a:r>
              <a:rPr sz="1200" b="1" i="0">
                <a:solidFill>
                  <a:srgbClr val="57307F"/>
                </a:solidFill>
                <a:latin typeface="Aptos"/>
              </a:rPr>
              <a:t>one proof device and a single Panacea assurance seal</a:t>
            </a:r>
            <a:r>
              <a:rPr sz="1200" b="0" i="0">
                <a:solidFill>
                  <a:srgbClr val="454551"/>
                </a:solidFill>
                <a:latin typeface="Aptos"/>
              </a:rPr>
              <a:t> — the moat competitors can't copy.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3602736" cy="329184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286000"/>
            <a:ext cx="3602736" cy="566928"/>
          </a:xfrm>
          <a:prstGeom prst="roundRect">
            <a:avLst>
              <a:gd name="adj" fmla="val 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3602736" cy="292608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7744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THE ANCHOR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99232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57307F"/>
                </a:solidFill>
                <a:latin typeface="Aptos Display"/>
              </a:rPr>
              <a:t>Assurance of Panacea Biotec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3200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A pharma company stands behind every pack. 7N corporate endorsement + one “Assurance” seal, corner-locked.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4528" y="2286000"/>
            <a:ext cx="3602736" cy="329184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24528" y="2286000"/>
            <a:ext cx="3602736" cy="566928"/>
          </a:xfrm>
          <a:prstGeom prst="roundRect">
            <a:avLst>
              <a:gd name="adj" fmla="val 8000"/>
            </a:avLst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24528" y="2560320"/>
            <a:ext cx="3602736" cy="292608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237744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THE 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2999232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57307F"/>
                </a:solidFill>
                <a:latin typeface="Aptos Display"/>
              </a:rPr>
              <a:t>One recurring proof mark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3794760"/>
            <a:ext cx="3200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“Paediatrician-recommended · Dermatologically tested.” One device, every SKU — instantly recognised.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91856" y="2286000"/>
            <a:ext cx="3602736" cy="329184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91856" y="2286000"/>
            <a:ext cx="3602736" cy="566928"/>
          </a:xfrm>
          <a:prstGeom prst="roundRect">
            <a:avLst>
              <a:gd name="adj" fmla="val 8000"/>
            </a:avLst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91856" y="2560320"/>
            <a:ext cx="3602736" cy="292608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0456" y="237744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THE REASSURANCE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6" y="2999232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57307F"/>
                </a:solidFill>
                <a:latin typeface="Aptos Display"/>
              </a:rPr>
              <a:t>Simplified No-No 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3794760"/>
            <a:ext cx="3200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From a wall of “free-froms” to a tight, tiered set: 100% safe actives · steroid &amp; paraben free · allergen-free declaration.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PRINCIPLE   </a:t>
            </a:r>
            <a:r>
              <a:rPr sz="1200" b="1" i="0">
                <a:solidFill>
                  <a:srgbClr val="57307F"/>
                </a:solidFill>
                <a:latin typeface="Aptos"/>
              </a:rPr>
              <a:t>Trust is not more badges — it is one badge nobody else can earn: a pharma company's name.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8971E1"/>
                </a:solidFill>
                <a:latin typeface="Aptos"/>
              </a:rPr>
              <a:t>1  Understand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7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7207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8971E1"/>
                </a:solidFill>
                <a:latin typeface="Aptos"/>
              </a:rPr>
              <a:t>2  Define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74336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74336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3  Meaning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41463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41463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Aptos"/>
              </a:rPr>
              <a:t>4  Translate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08591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1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Aptos"/>
              </a:rPr>
              <a:t>5  Finalise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971E1"/>
                </a:solidFill>
                <a:latin typeface="Aptos"/>
              </a:rPr>
              <a:t>WORKSHOP 3 OF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783080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57307F"/>
                </a:solidFill>
                <a:latin typeface="Aptos Display"/>
              </a:rPr>
              <a:t>Brand Meaning, Voice &amp; Payoff 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7889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8971E1"/>
                </a:solidFill>
                <a:latin typeface="Aptos"/>
              </a:rPr>
              <a:t>What does NikoMom stand for — and how does it sound and sign off?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40"/>
            <a:ext cx="10881360" cy="251460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03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8971E1"/>
                </a:solidFill>
                <a:latin typeface="Aptos"/>
              </a:rPr>
              <a:t>ON THE AGENDA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14800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Purpose, promise &amp; the positioning statement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Old foundation vs new foundation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Personality &amp; tone of voice: “clinical warmth”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114800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The payoff-line system — master to product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Naming architecture, cleaned up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Mnemonic &amp; mascot — decisions resolved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WORKSHOP 3 · PURPOSE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From reassurance to confidence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44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8C8C8C"/>
                </a:solidFill>
                <a:latin typeface="Aptos"/>
              </a:rPr>
              <a:t>CURRENT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5087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D71E83"/>
                </a:solidFill>
                <a:latin typeface="Aptos"/>
              </a:rPr>
              <a:t>EVOLVED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92807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7307F"/>
                </a:solidFill>
                <a:latin typeface="Aptos"/>
              </a:rPr>
              <a:t>BRAND ROLE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48840" y="1874519"/>
            <a:ext cx="3749039" cy="84124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1947672"/>
            <a:ext cx="3429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Aptos"/>
              </a:rPr>
              <a:t>Remove fear, confusion &amp; anxiety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13055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71E83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874519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947672"/>
            <a:ext cx="5029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7307F"/>
                </a:solidFill>
                <a:latin typeface="Aptos"/>
              </a:rPr>
              <a:t>Give parents proof and earned confidence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807208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7307F"/>
                </a:solidFill>
                <a:latin typeface="Aptos"/>
              </a:rPr>
              <a:t>CORE EMOTION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48840" y="2788920"/>
            <a:ext cx="3749039" cy="84124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31720" y="2862072"/>
            <a:ext cx="3429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Aptos"/>
              </a:rPr>
              <a:t>“I don't need to overthink this.”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04495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71E83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7889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2862072"/>
            <a:ext cx="5029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7307F"/>
                </a:solidFill>
                <a:latin typeface="Aptos"/>
              </a:rPr>
              <a:t>“I know I'm protecting my baby — and I can see it.”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721607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7307F"/>
                </a:solidFill>
                <a:latin typeface="Aptos"/>
              </a:rPr>
              <a:t>PROMISE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48840" y="3703320"/>
            <a:ext cx="3749039" cy="84124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31720" y="3776472"/>
            <a:ext cx="3429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Aptos"/>
              </a:rPr>
              <a:t>Protects what's still growing, gently, every 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395935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71E83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7033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3776472"/>
            <a:ext cx="5029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7307F"/>
                </a:solidFill>
                <a:latin typeface="Aptos"/>
              </a:rPr>
              <a:t>Protects your baby's skin barrier — proven, every 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636007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7307F"/>
                </a:solidFill>
                <a:latin typeface="Aptos"/>
              </a:rPr>
              <a:t>POSITIONING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48840" y="4617720"/>
            <a:ext cx="3749039" cy="84124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31720" y="4690872"/>
            <a:ext cx="3429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Aptos"/>
              </a:rPr>
              <a:t>Baby Care Expert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487375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71E83"/>
                </a:solidFill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617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4690872"/>
            <a:ext cx="5029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7307F"/>
                </a:solidFill>
                <a:latin typeface="Aptos"/>
              </a:rPr>
              <a:t>India's Baby Skin-Barrier Company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623560"/>
            <a:ext cx="11274552" cy="685800"/>
          </a:xfrm>
          <a:prstGeom prst="roundRect">
            <a:avLst>
              <a:gd name="adj" fmla="val 6000"/>
            </a:avLst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74243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BDDF3"/>
                </a:solidFill>
                <a:latin typeface="Aptos"/>
              </a:rPr>
              <a:t>POSITIONING STATEMENT   </a:t>
            </a:r>
            <a:r>
              <a:rPr sz="1100" b="0" i="0">
                <a:solidFill>
                  <a:srgbClr val="FFFFFF"/>
                </a:solidFill>
                <a:latin typeface="Aptos"/>
              </a:rPr>
              <a:t>For India's modern parents, NikoMom is the pharma-backed baby skin-barrier company that turns everyday care into proven protection — because only Panacea Biotec pairs real clinical science with formulations built for Indian skin.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WORKSHOP 3 · VOICE &amp; PERSONALITY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Tone of voice: clinical warmth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Warm enough to trust with a newborn; precise enough to believe with the science. </a:t>
            </a:r>
            <a:r>
              <a:rPr sz="1200" b="1" i="0">
                <a:solidFill>
                  <a:srgbClr val="57307F"/>
                </a:solidFill>
                <a:latin typeface="Aptos"/>
              </a:rPr>
              <a:t>We sound like a calm expert friend — never a lab, never a hype machine.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2670048" cy="82296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6888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71E83"/>
                </a:solidFill>
                <a:latin typeface="Aptos Display"/>
              </a:rPr>
              <a:t>Confident, not anxious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We state what's proven; we don't stoke fear.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2696" y="228600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82696" y="2286000"/>
            <a:ext cx="2670048" cy="82296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65576" y="246888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775E7"/>
                </a:solidFill>
                <a:latin typeface="Aptos Display"/>
              </a:rPr>
              <a:t>Precise, not 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5576" y="306324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Plain words for real science. No jargon walls.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08192" y="228600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08192" y="2286000"/>
            <a:ext cx="2670048" cy="82296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46888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79631"/>
                </a:solidFill>
                <a:latin typeface="Aptos Display"/>
              </a:rPr>
              <a:t>Warm, not soft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306324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Human and kind — but backed by evidence.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33688" y="228600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3688" y="2286000"/>
            <a:ext cx="2670048" cy="82296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16567" y="246888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9F25"/>
                </a:solidFill>
                <a:latin typeface="Aptos Display"/>
              </a:rPr>
              <a:t>Proof, not promises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306324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Every claim resolves to something visible.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886200"/>
            <a:ext cx="5532120" cy="2194560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0690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9F25"/>
                </a:solidFill>
                <a:latin typeface="Aptos"/>
              </a:rPr>
              <a:t>WORDS WE 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48056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✓  barrier · protect · proven · seal · calm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✓  visible · everyday · 24-hour · gentle-yet-effective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✓  dermatologically tested · paediatrician-recommended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886200"/>
            <a:ext cx="5532120" cy="219456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2" y="40690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71E83"/>
                </a:solidFill>
                <a:latin typeface="Aptos"/>
              </a:rPr>
              <a:t>WORDS WE AVOID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448056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✕  fear framing · “chemicals” scare tactics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✕  empty superlatives · “miracle”, “#1”, hype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✕  jargon dumps · unexplained INCI names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WORKSHOP 3 · ENDLINES THAT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The payoff-line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46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36192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One master line governs the brand; each product carries its own — but all resolve to the same idea: </a:t>
            </a:r>
            <a:r>
              <a:rPr sz="1200" b="1" i="0">
                <a:solidFill>
                  <a:srgbClr val="D71E83"/>
                </a:solidFill>
                <a:latin typeface="Aptos"/>
              </a:rPr>
              <a:t>protection you can see.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11274552" cy="914400"/>
          </a:xfrm>
          <a:prstGeom prst="roundRect">
            <a:avLst>
              <a:gd name="adj" fmla="val 6000"/>
            </a:avLst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12848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BDDF3"/>
                </a:solidFill>
                <a:latin typeface="Aptos"/>
              </a:rPr>
              <a:t>MASTER PAYOFF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Protection, proven.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286000"/>
            <a:ext cx="3657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BDDF3"/>
                </a:solidFill>
                <a:latin typeface="Aptos"/>
              </a:rPr>
              <a:t>SUPPORTING LINE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FFFFFF"/>
                </a:solidFill>
                <a:latin typeface="Aptos"/>
              </a:rPr>
              <a:t>The science of a protected baby.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8971E1"/>
                </a:solidFill>
                <a:latin typeface="Aptos"/>
              </a:rPr>
              <a:t>PRODUCT PAYOFF LINES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66160"/>
            <a:ext cx="5486400" cy="71323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73152" cy="713232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657600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Baby Massage Oil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657600"/>
            <a:ext cx="2926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1">
                <a:solidFill>
                  <a:srgbClr val="F79631"/>
                </a:solidFill>
                <a:latin typeface="Aptos"/>
              </a:rPr>
              <a:t>“Hydration that doesn't slip away.”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9904" y="3566160"/>
            <a:ext cx="5486400" cy="71323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9904" y="3566160"/>
            <a:ext cx="73152" cy="713232"/>
          </a:xfrm>
          <a:prstGeom prst="rect">
            <a:avLst/>
          </a:prstGeom>
          <a:solidFill>
            <a:srgbClr val="4EA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3657600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Head-to-Toe Wash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8784" y="3657600"/>
            <a:ext cx="2926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1">
                <a:solidFill>
                  <a:srgbClr val="4EA6DC"/>
                </a:solidFill>
                <a:latin typeface="Aptos"/>
              </a:rPr>
              <a:t>“A gentle clean that protects.”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389120"/>
            <a:ext cx="5486400" cy="71323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389120"/>
            <a:ext cx="73152" cy="713232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480559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Daily Lotion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480559"/>
            <a:ext cx="2926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1">
                <a:solidFill>
                  <a:srgbClr val="8971E1"/>
                </a:solidFill>
                <a:latin typeface="Aptos"/>
              </a:rPr>
              <a:t>“24-hour barrier, all-day soft.”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9904" y="4389120"/>
            <a:ext cx="5486400" cy="71323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9904" y="4389120"/>
            <a:ext cx="73152" cy="713232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4480559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Diaper Rash Cream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58784" y="4480559"/>
            <a:ext cx="2926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1">
                <a:solidFill>
                  <a:srgbClr val="D71E83"/>
                </a:solidFill>
                <a:latin typeface="Aptos"/>
              </a:rPr>
              <a:t>“Rescue today. Shield tomorrow.”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212080"/>
            <a:ext cx="5486400" cy="71323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212080"/>
            <a:ext cx="73152" cy="713232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303520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Baby Diapers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303520"/>
            <a:ext cx="2926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1">
                <a:solidFill>
                  <a:srgbClr val="6B9F25"/>
                </a:solidFill>
                <a:latin typeface="Aptos"/>
              </a:rPr>
              <a:t>“Dry all day. Calm all night.”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89904" y="5212080"/>
            <a:ext cx="5486400" cy="71323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89904" y="5212080"/>
            <a:ext cx="73152" cy="713232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1072" y="5303520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Wet Wipes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58784" y="5303520"/>
            <a:ext cx="2926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1">
                <a:solidFill>
                  <a:srgbClr val="4775E7"/>
                </a:solidFill>
                <a:latin typeface="Aptos"/>
              </a:rPr>
              <a:t>“Pure water. Nothing to hide.”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WORKSHOP 3 · NAMING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Naming, cleaned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47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The current names repeat “Baby” and run to three lines. We keep the </a:t>
            </a:r>
            <a:r>
              <a:rPr sz="1200" b="1" i="0">
                <a:solidFill>
                  <a:srgbClr val="D71E83"/>
                </a:solidFill>
                <a:latin typeface="Aptos"/>
              </a:rPr>
              <a:t>NikoMom</a:t>
            </a:r>
            <a:r>
              <a:rPr sz="1200" b="0" i="0">
                <a:solidFill>
                  <a:srgbClr val="454551"/>
                </a:solidFill>
                <a:latin typeface="Aptos"/>
              </a:rPr>
              <a:t> equity, cut the clutter, and lead with the barrier action — searchable and shelf-legible.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8C8C8C"/>
                </a:solidFill>
                <a:latin typeface="Aptos"/>
              </a:rPr>
              <a:t>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945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D71E83"/>
                </a:solidFill>
                <a:latin typeface="Aptos"/>
              </a:rPr>
              <a:t>AFTER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60320"/>
            <a:ext cx="5440680" cy="56692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15184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Aptos"/>
              </a:rPr>
              <a:t>NikoMom Baby Massage Oil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660903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71E83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560320"/>
            <a:ext cx="5440680" cy="566928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2615184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NikoMom Massage Oil · Nourish &amp; Seal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18687"/>
            <a:ext cx="5440680" cy="56692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273551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Aptos"/>
              </a:rPr>
              <a:t>NikoMom Baby Head to Toe Wash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319271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71E83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218687"/>
            <a:ext cx="5440680" cy="566928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3273551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NikoMom 3-in-1 Wash · Cleanse &amp; Preserve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877055"/>
            <a:ext cx="5440680" cy="56692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931919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Aptos"/>
              </a:rPr>
              <a:t>NikoMom Baby Daily Lotion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977639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71E83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877055"/>
            <a:ext cx="5440680" cy="566928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3931919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NikoMom Daily Lotion · Hydrate &amp; Strengthen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535423"/>
            <a:ext cx="5440680" cy="56692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590287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Aptos"/>
              </a:rPr>
              <a:t>NikoMom Baby Diaper Rash Cream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636007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71E83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535423"/>
            <a:ext cx="5440680" cy="566928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4590287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NikoMom Rash Cream · Repair &amp; Shield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93791"/>
            <a:ext cx="5440680" cy="56692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248655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Aptos"/>
              </a:rPr>
              <a:t>NikoMom Baby Premium Tape Diaper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294375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71E83"/>
                </a:solidFill>
                <a:latin typeface="Apto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5193791"/>
            <a:ext cx="5440680" cy="566928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4808" y="5248655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7307F"/>
                </a:solidFill>
                <a:latin typeface="Aptos"/>
              </a:rPr>
              <a:t>NikoMom Diapers · Dry &amp; Protect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8971E1"/>
                </a:solidFill>
                <a:latin typeface="Aptos"/>
              </a:rPr>
              <a:t>RULES   </a:t>
            </a:r>
            <a:r>
              <a:rPr sz="1050" b="0" i="0">
                <a:solidFill>
                  <a:srgbClr val="454551"/>
                </a:solidFill>
                <a:latin typeface="Aptos"/>
              </a:rPr>
              <a:t>Drop “Baby” (the brand already says it) · one line per name · barrier action as descriptor · drop “Premium” (let quality show) · BarrierNest™ is the only proprietary name.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WORKSHOP 3 · SENSORY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Mnemonic &amp; mascot — decided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48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Two open questions from the current deck, now resolved against the strategy.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48840"/>
            <a:ext cx="5532120" cy="388620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3774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MASCOT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377440"/>
            <a:ext cx="3291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71E83"/>
                </a:solidFill>
                <a:latin typeface="Aptos Display"/>
              </a:rPr>
              <a:t>Decision: NO mascot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971800"/>
            <a:ext cx="50292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A cartoon animal signals </a:t>
            </a:r>
            <a:r>
              <a:rPr sz="1150" b="1" i="0">
                <a:solidFill>
                  <a:srgbClr val="57307F"/>
                </a:solidFill>
                <a:latin typeface="Aptos"/>
              </a:rPr>
              <a:t>mass, not medicine</a:t>
            </a:r>
            <a:r>
              <a:rPr sz="1150" b="0" i="0">
                <a:solidFill>
                  <a:srgbClr val="454551"/>
                </a:solidFill>
                <a:latin typeface="Aptos"/>
              </a:rPr>
              <a:t>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Your own W1 decision agreed: avoid a mascot for premium positioning.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A science-backed barrier brand earns trust through restraint, not characters.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57307F"/>
                </a:solidFill>
                <a:latin typeface="Aptos"/>
              </a:rPr>
              <a:t>“Niko” stays the brand name — warm, human — not a teddy bear.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148840"/>
            <a:ext cx="5532120" cy="3886200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28232" y="23774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MNEMONIC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77440"/>
            <a:ext cx="3291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971E1"/>
                </a:solidFill>
                <a:latin typeface="Aptos Display"/>
              </a:rPr>
              <a:t>Evolve, don't drop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2971800"/>
            <a:ext cx="50292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Retire the literal mother-&amp;-child image (it centres the parent, not the outcome).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Invent a </a:t>
            </a:r>
            <a:r>
              <a:rPr sz="1150" b="1" i="0">
                <a:solidFill>
                  <a:srgbClr val="57307F"/>
                </a:solidFill>
                <a:latin typeface="Aptos"/>
              </a:rPr>
              <a:t>“smile-in-a-shield”</a:t>
            </a:r>
            <a:r>
              <a:rPr sz="1150" b="0" i="0">
                <a:solidFill>
                  <a:srgbClr val="454551"/>
                </a:solidFill>
                <a:latin typeface="Aptos"/>
              </a:rPr>
              <a:t> mark: the Niko smile held inside a protective barrier arc.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Owns both meanings at once — warmth (smile) and science (shield).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57307F"/>
                </a:solidFill>
                <a:latin typeface="Aptos"/>
              </a:rPr>
              <a:t>Works as a silent stamp at 200px, on pack, and as an app icon.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79631"/>
                </a:solidFill>
                <a:latin typeface="Aptos"/>
              </a:rPr>
              <a:t>1  Understand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7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7207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79631"/>
                </a:solidFill>
                <a:latin typeface="Aptos"/>
              </a:rPr>
              <a:t>2  Define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74336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74336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79631"/>
                </a:solidFill>
                <a:latin typeface="Aptos"/>
              </a:rPr>
              <a:t>3  Meaning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41463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41463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4  Translate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08591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1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Aptos"/>
              </a:rPr>
              <a:t>5  Finalise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79631"/>
                </a:solidFill>
                <a:latin typeface="Aptos"/>
              </a:rPr>
              <a:t>WORKSHOP 4 OF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783080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57307F"/>
                </a:solidFill>
                <a:latin typeface="Aptos Display"/>
              </a:rPr>
              <a:t>Visual Identity &amp; Packaging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7889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F79631"/>
                </a:solidFill>
                <a:latin typeface="Aptos"/>
              </a:rPr>
              <a:t>How does the strategy become something a parent can see and hold?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40"/>
            <a:ext cx="10881360" cy="251460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03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79631"/>
                </a:solidFill>
                <a:latin typeface="Aptos"/>
              </a:rPr>
              <a:t>ON THE AGENDA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14800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The “clinical warmth” execution principles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Packaging architecture: the front-of-pack zones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Colour &amp; SKU differentiation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114800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Structure &amp; materials: bottles, pumps, feel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Iconography, space &amp; the proof device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WORKSHOP 4 · 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Clinical warmth — the execution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50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The current packs use only ~40% of available space and read generic. Our fix isn't “add more” — it's </a:t>
            </a:r>
            <a:r>
              <a:rPr sz="1200" b="1" i="0">
                <a:solidFill>
                  <a:srgbClr val="57307F"/>
                </a:solidFill>
                <a:latin typeface="Aptos"/>
              </a:rPr>
              <a:t>hierarchy, one owned colour field, and a technology-led minimalism that still feels human.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3611880" cy="166420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3611880" cy="82296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2374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775E7"/>
                </a:solidFill>
                <a:latin typeface="Aptos Display"/>
              </a:rPr>
              <a:t>Technology-led, minimal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01752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Clean, premium, uncluttered — your own W1 recommendation.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4528" y="2286000"/>
            <a:ext cx="3611880" cy="166420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24528" y="2286000"/>
            <a:ext cx="3611880" cy="82296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5696" y="252374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D71E83"/>
                </a:solidFill>
                <a:latin typeface="Aptos Display"/>
              </a:rPr>
              <a:t>Own a colour field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301752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Retire plain white; a branded field lifts shelf stand-out.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2286000"/>
            <a:ext cx="3611880" cy="166420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91856" y="2286000"/>
            <a:ext cx="3611880" cy="82296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4" y="252374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8971E1"/>
                </a:solidFill>
                <a:latin typeface="Aptos Display"/>
              </a:rPr>
              <a:t>Structure as mnemonic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301752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A soft, rounded silhouette recognised before the label is read.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14800"/>
            <a:ext cx="3611880" cy="166420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114800"/>
            <a:ext cx="3611880" cy="82296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35254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B9F25"/>
                </a:solidFill>
                <a:latin typeface="Aptos Display"/>
              </a:rPr>
              <a:t>One outcome, one proof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84632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A single hero claim + a single proof device — never a wall.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24528" y="4114800"/>
            <a:ext cx="3611880" cy="166420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24528" y="4114800"/>
            <a:ext cx="3611880" cy="82296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25696" y="435254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79631"/>
                </a:solidFill>
                <a:latin typeface="Aptos Display"/>
              </a:rPr>
              <a:t>Warmth in the detail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5696" y="484632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Soft-touch finish, rounded forms, human colour — not a lab.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91856" y="4114800"/>
            <a:ext cx="3611880" cy="1664208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91856" y="4114800"/>
            <a:ext cx="3611880" cy="82296"/>
          </a:xfrm>
          <a:prstGeom prst="rect">
            <a:avLst/>
          </a:prstGeom>
          <a:solidFill>
            <a:srgbClr val="4EA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3024" y="435254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EA6DC"/>
                </a:solidFill>
                <a:latin typeface="Aptos Display"/>
              </a:rPr>
              <a:t>Use the space with rank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4" y="484632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Fill 70%+ of pack — but every element earns its position.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WORKSHOP 4 · PACKAGING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The front-of-pack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51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Six fixed zones, top to bottom. Same skeleton on every SKU — only the outcome and the colour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103120"/>
            <a:ext cx="8961120" cy="603504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2103120"/>
            <a:ext cx="457200" cy="603504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2157984"/>
            <a:ext cx="457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176272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7307F"/>
                </a:solidFill>
                <a:latin typeface="Aptos"/>
              </a:rPr>
              <a:t>Masterbrand + endorsement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176272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NikoMom + 7N Panacea Biotec assurance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2761487"/>
            <a:ext cx="8961120" cy="603504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0" y="2761487"/>
            <a:ext cx="457200" cy="603504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2816351"/>
            <a:ext cx="457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834639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7307F"/>
                </a:solidFill>
                <a:latin typeface="Aptos"/>
              </a:rPr>
              <a:t>Variant + hero 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834639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“24-hour barrier hydration” — the biggest thing on pack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3419855"/>
            <a:ext cx="8961120" cy="603504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0" y="3419855"/>
            <a:ext cx="457200" cy="603504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3474719"/>
            <a:ext cx="457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49300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7307F"/>
                </a:solidFill>
                <a:latin typeface="Aptos"/>
              </a:rPr>
              <a:t>BarrierNest™ signature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493007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One technology badge, consistently placed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4078223"/>
            <a:ext cx="8961120" cy="603504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0" y="4078223"/>
            <a:ext cx="457200" cy="603504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4133087"/>
            <a:ext cx="457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151375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7307F"/>
                </a:solidFill>
                <a:latin typeface="Aptos"/>
              </a:rPr>
              <a:t>One proof mark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151375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Paediatrician-recommended · Dermatologically tested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4736591"/>
            <a:ext cx="8961120" cy="603504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0" y="4736591"/>
            <a:ext cx="457200" cy="603504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4791455"/>
            <a:ext cx="457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480974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7307F"/>
                </a:solidFill>
                <a:latin typeface="Aptos"/>
              </a:rPr>
              <a:t>Key ingredient / descriptor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809743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Hero actives or 3-in-1 — the reason-to-believe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0" y="5394959"/>
            <a:ext cx="8961120" cy="603504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0" y="5394959"/>
            <a:ext cx="457200" cy="60350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5449823"/>
            <a:ext cx="457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4681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7307F"/>
                </a:solidFill>
                <a:latin typeface="Aptos"/>
              </a:rPr>
              <a:t>Regulatory zone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5468111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Net weight, FSSAI, batch, Made-in-India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2103120"/>
            <a:ext cx="2103120" cy="3913632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22402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79631"/>
                </a:solidFill>
                <a:latin typeface="Aptos"/>
              </a:rPr>
              <a:t>THE PACK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51560" y="2743200"/>
            <a:ext cx="914400" cy="2926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F796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234440" y="2514600"/>
            <a:ext cx="548640" cy="365760"/>
          </a:xfrm>
          <a:prstGeom prst="roundRect">
            <a:avLst>
              <a:gd name="adj" fmla="val 40000"/>
            </a:avLst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170432" y="2926080"/>
            <a:ext cx="676656" cy="292608"/>
          </a:xfrm>
          <a:prstGeom prst="roundRect">
            <a:avLst>
              <a:gd name="adj" fmla="val 30000"/>
            </a:avLst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170432" y="3328416"/>
            <a:ext cx="676656" cy="292608"/>
          </a:xfrm>
          <a:prstGeom prst="roundRect">
            <a:avLst>
              <a:gd name="adj" fmla="val 30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170432" y="3730752"/>
            <a:ext cx="676656" cy="292608"/>
          </a:xfrm>
          <a:prstGeom prst="roundRect">
            <a:avLst>
              <a:gd name="adj" fmla="val 30000"/>
            </a:avLst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170432" y="4133088"/>
            <a:ext cx="676656" cy="292608"/>
          </a:xfrm>
          <a:prstGeom prst="roundRect">
            <a:avLst>
              <a:gd name="adj" fmla="val 30000"/>
            </a:avLst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170432" y="4535424"/>
            <a:ext cx="676656" cy="292608"/>
          </a:xfrm>
          <a:prstGeom prst="roundRect">
            <a:avLst>
              <a:gd name="adj" fmla="val 30000"/>
            </a:avLst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70432" y="4937760"/>
            <a:ext cx="676656" cy="292608"/>
          </a:xfrm>
          <a:prstGeom prst="roundRect">
            <a:avLst>
              <a:gd name="adj" fmla="val 3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WORKSHOP 4 · COLOUR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Colour &amp; SKU differentiation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52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Purple is the master-brand spine. Each product owns one accent from the Panacea palette — so the range reads as </a:t>
            </a:r>
            <a:r>
              <a:rPr sz="1200" b="1" i="0">
                <a:solidFill>
                  <a:srgbClr val="57307F"/>
                </a:solidFill>
                <a:latin typeface="Aptos"/>
              </a:rPr>
              <a:t>one family on the shelf, six clear choices in the hand.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31720"/>
            <a:ext cx="175564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331720"/>
            <a:ext cx="1755648" cy="1051560"/>
          </a:xfrm>
          <a:prstGeom prst="roundRect">
            <a:avLst>
              <a:gd name="adj" fmla="val 6000"/>
            </a:avLst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1755648" cy="365760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429000"/>
            <a:ext cx="1554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7307F"/>
                </a:solidFill>
                <a:latin typeface="Aptos"/>
              </a:rPr>
              <a:t>Baby Massage Oil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16052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79631"/>
                </a:solidFill>
                <a:latin typeface="Aptos"/>
              </a:rPr>
              <a:t>Nourish &amp; Seal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40864" y="2331720"/>
            <a:ext cx="175564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340864" y="2331720"/>
            <a:ext cx="1755648" cy="1051560"/>
          </a:xfrm>
          <a:prstGeom prst="roundRect">
            <a:avLst>
              <a:gd name="adj" fmla="val 6000"/>
            </a:avLst>
          </a:prstGeom>
          <a:solidFill>
            <a:srgbClr val="4EA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40864" y="3017520"/>
            <a:ext cx="1755648" cy="365760"/>
          </a:xfrm>
          <a:prstGeom prst="rect">
            <a:avLst/>
          </a:prstGeom>
          <a:solidFill>
            <a:srgbClr val="4EA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50592" y="3429000"/>
            <a:ext cx="1554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7307F"/>
                </a:solidFill>
                <a:latin typeface="Aptos"/>
              </a:rPr>
              <a:t>Head-to-Toe Wash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0592" y="416052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EA6DC"/>
                </a:solidFill>
                <a:latin typeface="Aptos"/>
              </a:rPr>
              <a:t>Cleanse &amp; Preserve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24528" y="2331720"/>
            <a:ext cx="175564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24528" y="2331720"/>
            <a:ext cx="1755648" cy="1051560"/>
          </a:xfrm>
          <a:prstGeom prst="roundRect">
            <a:avLst>
              <a:gd name="adj" fmla="val 6000"/>
            </a:avLst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24528" y="3017520"/>
            <a:ext cx="1755648" cy="365760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3429000"/>
            <a:ext cx="1554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7307F"/>
                </a:solidFill>
                <a:latin typeface="Aptos"/>
              </a:rPr>
              <a:t>Daily Lotion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6" y="416052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971E1"/>
                </a:solidFill>
                <a:latin typeface="Aptos"/>
              </a:rPr>
              <a:t>Hydrate &amp; Strengthen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08192" y="2331720"/>
            <a:ext cx="175564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08192" y="2331720"/>
            <a:ext cx="1755648" cy="1051560"/>
          </a:xfrm>
          <a:prstGeom prst="roundRect">
            <a:avLst>
              <a:gd name="adj" fmla="val 6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08192" y="3017520"/>
            <a:ext cx="1755648" cy="365760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429000"/>
            <a:ext cx="1554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7307F"/>
                </a:solidFill>
                <a:latin typeface="Aptos"/>
              </a:rPr>
              <a:t>Diaper Rash Cream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16052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D71E83"/>
                </a:solidFill>
                <a:latin typeface="Aptos"/>
              </a:rPr>
              <a:t>Repair &amp; Shield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91856" y="2331720"/>
            <a:ext cx="175564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991856" y="2331720"/>
            <a:ext cx="1755648" cy="1051560"/>
          </a:xfrm>
          <a:prstGeom prst="roundRect">
            <a:avLst>
              <a:gd name="adj" fmla="val 6000"/>
            </a:avLst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91856" y="3017520"/>
            <a:ext cx="1755648" cy="365760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01583" y="3429000"/>
            <a:ext cx="1554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7307F"/>
                </a:solidFill>
                <a:latin typeface="Aptos"/>
              </a:rPr>
              <a:t>Baby Diapers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01583" y="416052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9F25"/>
                </a:solidFill>
                <a:latin typeface="Aptos"/>
              </a:rPr>
              <a:t>Dry &amp; Protect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75520" y="2331720"/>
            <a:ext cx="175564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875520" y="2331720"/>
            <a:ext cx="1755648" cy="1051560"/>
          </a:xfrm>
          <a:prstGeom prst="roundRect">
            <a:avLst>
              <a:gd name="adj" fmla="val 6000"/>
            </a:avLst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75520" y="3017520"/>
            <a:ext cx="1755648" cy="365760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85248" y="3429000"/>
            <a:ext cx="1554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7307F"/>
                </a:solidFill>
                <a:latin typeface="Aptos"/>
              </a:rPr>
              <a:t>Wet Wipes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5248" y="416052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775E7"/>
                </a:solidFill>
                <a:latin typeface="Aptos"/>
              </a:rPr>
              <a:t>Purely Clean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846320"/>
            <a:ext cx="11274552" cy="118872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010912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79631"/>
                </a:solidFill>
                <a:latin typeface="Aptos"/>
              </a:rPr>
              <a:t>WHY IT WORKS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34924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Solves the current “white doesn't stand out” problem · lets a parent find “the orange one” by memory · keeps Amazon thumbnails distinct · and a shared purple spine + BarrierNest™ badge holds the six together as an unmistakable system.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WORKSHOP 4 · FORM &amp; FEEL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Structure &amp;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53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The bottle itself should communicate safety and premium before a word is read — and resolve the open cap decision.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40280"/>
            <a:ext cx="5486400" cy="171907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40280"/>
            <a:ext cx="82296" cy="1719072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D71E83"/>
                </a:solidFill>
                <a:latin typeface="Aptos Display"/>
              </a:rPr>
              <a:t>Dispensing: pump with on/off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2608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Single-hand “no-slip” dispensing in a wet bathroom, spill-proof lock. Rejects the flip-on cap (tears away, feels cheap).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9904" y="2240280"/>
            <a:ext cx="5486400" cy="171907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9904" y="2240280"/>
            <a:ext cx="82296" cy="1719072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24231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971E1"/>
                </a:solidFill>
                <a:latin typeface="Aptos Display"/>
              </a:rPr>
              <a:t>Silhouette: soft &amp; rounded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92608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A familiar, easy-hold form with no hard edges — safety felt in the hand, and a shape ownable as a mnemonic.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114800"/>
            <a:ext cx="5486400" cy="171907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82296" cy="1719072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976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79631"/>
                </a:solidFill>
                <a:latin typeface="Aptos Display"/>
              </a:rPr>
              <a:t>Finish: soft-touch, premium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80060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Matte soft-touch with a branded colour field — reads clinical-warm, not glossy-mass.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9904" y="4114800"/>
            <a:ext cx="5486400" cy="171907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9904" y="4114800"/>
            <a:ext cx="82296" cy="1719072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18504" y="42976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B9F25"/>
                </a:solidFill>
                <a:latin typeface="Aptos Display"/>
              </a:rPr>
              <a:t>Diapers &amp; wipes: proof by feel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480060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Ultra-soft breathable top-sheet, wetness indicator, aloe anti-rash; resealable biodegradable wipe pack.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WORKSHOP 4 · INFORMATION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Icons, space &amp; the proof device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54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2194560"/>
            <a:ext cx="2670048" cy="210312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670048" cy="82296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95728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775E7"/>
                </a:solidFill>
                <a:latin typeface="Aptos Display"/>
              </a:rPr>
              <a:t>Max 4–6 icons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A tight, legible icon set — not a badge-storm. Each icon earns space.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82696" y="2194560"/>
            <a:ext cx="2670048" cy="210312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82696" y="2194560"/>
            <a:ext cx="2670048" cy="82296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65576" y="2395728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D71E83"/>
                </a:solidFill>
                <a:latin typeface="Aptos Display"/>
              </a:rPr>
              <a:t>One proof device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5576" y="301752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A single, repeated “tested &amp; recommended” mark across the whole range.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2194560"/>
            <a:ext cx="2670048" cy="210312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2194560"/>
            <a:ext cx="2670048" cy="82296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2395728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6B9F25"/>
                </a:solidFill>
                <a:latin typeface="Aptos Display"/>
              </a:rPr>
              <a:t>Fill 70%+, with hierarchy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301752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Answer the current 40%-vs-75% gap — but through rank, never clutter.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33688" y="2194560"/>
            <a:ext cx="2670048" cy="210312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3688" y="2194560"/>
            <a:ext cx="2670048" cy="82296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6567" y="2395728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8971E1"/>
                </a:solidFill>
                <a:latin typeface="Aptos Display"/>
              </a:rPr>
              <a:t>Design motif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301752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A quiet barrier-arc motif ties pack, digital and comms into one language.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11274552" cy="1463040"/>
          </a:xfrm>
          <a:prstGeom prst="roundRect">
            <a:avLst>
              <a:gd name="adj" fmla="val 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7548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71E83"/>
                </a:solidFill>
                <a:latin typeface="Aptos Display"/>
              </a:rPr>
              <a:t>THE 8-SECOND TEST — BUILT 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16636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54551"/>
                </a:solidFill>
                <a:latin typeface="Aptos"/>
              </a:rPr>
              <a:t>A parent picks up the pack and, with no ad recall and no salesperson, reads in order: </a:t>
            </a:r>
            <a:r>
              <a:rPr sz="1150" b="1" i="0">
                <a:solidFill>
                  <a:srgbClr val="57307F"/>
                </a:solidFill>
                <a:latin typeface="Aptos"/>
              </a:rPr>
              <a:t>what it is</a:t>
            </a:r>
            <a:r>
              <a:rPr sz="1150" b="0" i="0">
                <a:solidFill>
                  <a:srgbClr val="454551"/>
                </a:solidFill>
                <a:latin typeface="Aptos"/>
              </a:rPr>
              <a:t> (outcome) → </a:t>
            </a:r>
            <a:r>
              <a:rPr sz="1150" b="1" i="0">
                <a:solidFill>
                  <a:srgbClr val="57307F"/>
                </a:solidFill>
                <a:latin typeface="Aptos"/>
              </a:rPr>
              <a:t>why it's right</a:t>
            </a:r>
            <a:r>
              <a:rPr sz="1150" b="0" i="0">
                <a:solidFill>
                  <a:srgbClr val="454551"/>
                </a:solidFill>
                <a:latin typeface="Aptos"/>
              </a:rPr>
              <a:t> (BarrierNest + proof) → </a:t>
            </a:r>
            <a:r>
              <a:rPr sz="1150" b="1" i="0">
                <a:solidFill>
                  <a:srgbClr val="57307F"/>
                </a:solidFill>
                <a:latin typeface="Aptos"/>
              </a:rPr>
              <a:t>why to trust it</a:t>
            </a:r>
            <a:r>
              <a:rPr sz="1150" b="0" i="0">
                <a:solidFill>
                  <a:srgbClr val="454551"/>
                </a:solidFill>
                <a:latin typeface="Aptos"/>
              </a:rPr>
              <a:t> (Panacea). Decision made — in under eight seconds.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B9F25"/>
                </a:solidFill>
                <a:latin typeface="Aptos"/>
              </a:rPr>
              <a:t>1  Understand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7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7207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B9F25"/>
                </a:solidFill>
                <a:latin typeface="Aptos"/>
              </a:rPr>
              <a:t>2  Define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74336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74336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B9F25"/>
                </a:solidFill>
                <a:latin typeface="Aptos"/>
              </a:rPr>
              <a:t>3  Meaning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41463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FB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41463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B9F25"/>
                </a:solidFill>
                <a:latin typeface="Aptos"/>
              </a:rPr>
              <a:t>4  Translate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08591" y="502920"/>
            <a:ext cx="2084831" cy="457200"/>
          </a:xfrm>
          <a:prstGeom prst="roundRect">
            <a:avLst>
              <a:gd name="adj" fmla="val 16000"/>
            </a:avLst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1" y="502920"/>
            <a:ext cx="20848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5  Finalise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B9F25"/>
                </a:solidFill>
                <a:latin typeface="Aptos"/>
              </a:rPr>
              <a:t>WORKSHOP 5 OF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783080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57307F"/>
                </a:solidFill>
                <a:latin typeface="Aptos Display"/>
              </a:rPr>
              <a:t>Integrated Brand &amp; Communication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7889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6B9F25"/>
                </a:solidFill>
                <a:latin typeface="Aptos"/>
              </a:rPr>
              <a:t>Does the brand hold together — and flex — across every place a parent meets it?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40"/>
            <a:ext cx="10881360" cy="251460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03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B9F25"/>
                </a:solidFill>
                <a:latin typeface="Aptos"/>
              </a:rPr>
              <a:t>ON THE AGENDA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14800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Channel adaptation matrix (pack to WhatsApp)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Messaging adaptation by context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The integrated brand-management cascade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114800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Beyond the shelf: subscription &amp; community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•  Final output, governance &amp; what's locked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WORKSHOP 5 · CHANNEL ADAPTATION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One brand, every channel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56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The system must flex without breaking. Each channel leads with a different rung of the same ladder — but it is always the same ladder.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48840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148840"/>
            <a:ext cx="2670048" cy="82296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6829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775E7"/>
                </a:solidFill>
                <a:latin typeface="Aptos Display"/>
              </a:rPr>
              <a:t>Amazon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3464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Outcome thumbnail + A+ proof modules + reviews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73552" y="2148840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73552" y="2148840"/>
            <a:ext cx="2670048" cy="82296"/>
          </a:xfrm>
          <a:prstGeom prst="rect">
            <a:avLst/>
          </a:prstGeom>
          <a:solidFill>
            <a:srgbClr val="4EA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236829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EA6DC"/>
                </a:solidFill>
                <a:latin typeface="Aptos Display"/>
              </a:rPr>
              <a:t>Quick commerce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83464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One outcome + one proof, legible at tile size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9904" y="2148840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9904" y="2148840"/>
            <a:ext cx="2670048" cy="82296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236829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971E1"/>
                </a:solidFill>
                <a:latin typeface="Aptos Display"/>
              </a:rPr>
              <a:t>Website / CRM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283464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Barrier-science story + the outcome ladder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6256" y="2148840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6256" y="2148840"/>
            <a:ext cx="2670048" cy="82296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89136" y="236829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71E83"/>
                </a:solidFill>
                <a:latin typeface="Aptos Display"/>
              </a:rPr>
              <a:t>Retail shelf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9136" y="283464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SKU colour block + hero outcome at three feet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14800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114800"/>
            <a:ext cx="2670048" cy="82296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33425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9F25"/>
                </a:solidFill>
                <a:latin typeface="Aptos Display"/>
              </a:rPr>
              <a:t>Doctors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80060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Clinical proof + Panacea credibility leads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3552" y="4114800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73552" y="4114800"/>
            <a:ext cx="2670048" cy="82296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56432" y="433425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79631"/>
                </a:solidFill>
                <a:latin typeface="Aptos Display"/>
              </a:rPr>
              <a:t>Influencers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6432" y="480060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Real babies, real outcomes — authentic UGC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89904" y="4114800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89904" y="4114800"/>
            <a:ext cx="2670048" cy="82296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72784" y="433425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971E1"/>
                </a:solidFill>
                <a:latin typeface="Aptos Display"/>
              </a:rPr>
              <a:t>WhatsApp companion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72784" y="480060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A daily routine coach — the confidence engine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06256" y="4114800"/>
            <a:ext cx="2670048" cy="178308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06256" y="4114800"/>
            <a:ext cx="2670048" cy="82296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89136" y="433425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71E83"/>
                </a:solidFill>
                <a:latin typeface="Aptos Display"/>
              </a:rPr>
              <a:t>Subscription / refills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89136" y="480060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54551"/>
                </a:solidFill>
                <a:latin typeface="Aptos"/>
              </a:rPr>
              <a:t>Barrier routine kits by growth stage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WORKSHOP 5 · MESSAGING BY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Same brand, different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57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Five contexts, five hierarchies — one voice. This is what stops an “integrated” brand from fragmenting into five different brands.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48840"/>
            <a:ext cx="11274552" cy="71323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148840"/>
            <a:ext cx="1554480" cy="713232"/>
          </a:xfrm>
          <a:prstGeom prst="roundRect">
            <a:avLst>
              <a:gd name="adj" fmla="val 6000"/>
            </a:avLst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2148840"/>
            <a:ext cx="1005840" cy="713232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03704"/>
            <a:ext cx="1554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ptos Display"/>
              </a:rPr>
              <a:t>EDUCATE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203704"/>
            <a:ext cx="2743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7307F"/>
                </a:solidFill>
                <a:latin typeface="Aptos Display"/>
              </a:rPr>
              <a:t>Teach the barrier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203704"/>
            <a:ext cx="6492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Lead with the science: why the skin barrier matters and how NikoMom builds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07792"/>
            <a:ext cx="11274552" cy="71323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2907792"/>
            <a:ext cx="1554480" cy="713232"/>
          </a:xfrm>
          <a:prstGeom prst="roundRect">
            <a:avLst>
              <a:gd name="adj" fmla="val 6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" y="2907792"/>
            <a:ext cx="1005840" cy="713232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962656"/>
            <a:ext cx="1554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ptos Display"/>
              </a:rPr>
              <a:t>CONVERT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962656"/>
            <a:ext cx="2743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7307F"/>
                </a:solidFill>
                <a:latin typeface="Aptos Display"/>
              </a:rPr>
              <a:t>Close the sale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962656"/>
            <a:ext cx="6492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Lead with outcome + proof + offer. Least friction to “add to cart”.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666744"/>
            <a:ext cx="11274552" cy="71323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3666744"/>
            <a:ext cx="1554480" cy="713232"/>
          </a:xfrm>
          <a:prstGeom prst="roundRect">
            <a:avLst>
              <a:gd name="adj" fmla="val 6000"/>
            </a:avLst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" y="3666744"/>
            <a:ext cx="1005840" cy="713232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721607"/>
            <a:ext cx="1554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ptos Display"/>
              </a:rPr>
              <a:t>EMOTION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3721607"/>
            <a:ext cx="2743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7307F"/>
                </a:solidFill>
                <a:latin typeface="Aptos Display"/>
              </a:rPr>
              <a:t>Build the bond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721607"/>
            <a:ext cx="6492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Lead with the confident parent and the calm, protected baby.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425696"/>
            <a:ext cx="11274552" cy="71323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4425696"/>
            <a:ext cx="1554480" cy="713232"/>
          </a:xfrm>
          <a:prstGeom prst="roundRect">
            <a:avLst>
              <a:gd name="adj" fmla="val 6000"/>
            </a:avLst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5840" y="4425696"/>
            <a:ext cx="1005840" cy="713232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480559"/>
            <a:ext cx="1554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ptos Display"/>
              </a:rPr>
              <a:t>RETAIL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4480559"/>
            <a:ext cx="2743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7307F"/>
                </a:solidFill>
                <a:latin typeface="Aptos Display"/>
              </a:rPr>
              <a:t>Win at 3 feet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480559"/>
            <a:ext cx="6492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Lead with colour block + one outcome. Recognised, not read.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184648"/>
            <a:ext cx="11274552" cy="713232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" y="5184648"/>
            <a:ext cx="1554480" cy="713232"/>
          </a:xfrm>
          <a:prstGeom prst="roundRect">
            <a:avLst>
              <a:gd name="adj" fmla="val 6000"/>
            </a:avLst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5840" y="5184648"/>
            <a:ext cx="1005840" cy="713232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239512"/>
            <a:ext cx="1554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ptos Display"/>
              </a:rPr>
              <a:t>MARKETPLACE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5239512"/>
            <a:ext cx="2743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7307F"/>
                </a:solidFill>
                <a:latin typeface="Aptos Display"/>
              </a:rPr>
              <a:t>Get found &amp; chosen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5239512"/>
            <a:ext cx="6492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Lead with searchable descriptive names + proof + reviews.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WORKSHOP 5 · THE INTEGRATED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This is brand management, not a redesign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58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36192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Every layer is locked to the one above it. Change the strategy and everything moves; keep the strategy and nothing drifts. That single chain of custody — </a:t>
            </a:r>
            <a:r>
              <a:rPr sz="1200" b="1" i="0">
                <a:solidFill>
                  <a:srgbClr val="57307F"/>
                </a:solidFill>
                <a:latin typeface="Aptos"/>
              </a:rPr>
              <a:t>strategy to shelf — is the deliverable.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40280"/>
            <a:ext cx="11274552" cy="603504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240280"/>
            <a:ext cx="1280160" cy="603504"/>
          </a:xfrm>
          <a:prstGeom prst="roundRect">
            <a:avLst>
              <a:gd name="adj" fmla="val 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240280"/>
            <a:ext cx="640080" cy="603504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95144"/>
            <a:ext cx="1280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 Display"/>
              </a:rPr>
              <a:t>W1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286000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71E83"/>
                </a:solidFill>
                <a:latin typeface="Aptos Display"/>
              </a:rPr>
              <a:t>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286000"/>
            <a:ext cx="6126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Baby Skin-Barrier Company · “Protection, proven”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7889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8D9DC"/>
                </a:solidFill>
                <a:latin typeface="Aptos"/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99232"/>
            <a:ext cx="10817352" cy="603504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2999232"/>
            <a:ext cx="1280160" cy="603504"/>
          </a:xfrm>
          <a:prstGeom prst="roundRect">
            <a:avLst>
              <a:gd name="adj" fmla="val 8000"/>
            </a:avLst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25880" y="2999232"/>
            <a:ext cx="640080" cy="603504"/>
          </a:xfrm>
          <a:prstGeom prst="rect">
            <a:avLst/>
          </a:prstGeom>
          <a:solidFill>
            <a:srgbClr val="477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054096"/>
            <a:ext cx="1280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 Display"/>
              </a:rPr>
              <a:t>W2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3044952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775E7"/>
                </a:solidFill>
                <a:latin typeface="Aptos Display"/>
              </a:rPr>
              <a:t>CLAIMS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044952"/>
            <a:ext cx="5669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Outcome-led ladder · BarrierNest™ · proof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35478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8D9DC"/>
                </a:solidFill>
                <a:latin typeface="Aptos"/>
              </a:rPr>
              <a:t>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758184"/>
            <a:ext cx="10360152" cy="603504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3758184"/>
            <a:ext cx="1280160" cy="603504"/>
          </a:xfrm>
          <a:prstGeom prst="roundRect">
            <a:avLst>
              <a:gd name="adj" fmla="val 8000"/>
            </a:avLst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554480" y="3758184"/>
            <a:ext cx="640080" cy="603504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813048"/>
            <a:ext cx="1280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 Display"/>
              </a:rPr>
              <a:t>W3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3803904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971E1"/>
                </a:solidFill>
                <a:latin typeface="Aptos Display"/>
              </a:rPr>
              <a:t>MEANING &amp; VOICE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3803904"/>
            <a:ext cx="5212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Confidence · clinical warmth · payoff-line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306824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8D9DC"/>
                </a:solidFill>
                <a:latin typeface="Aptos"/>
              </a:rPr>
              <a:t>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3000" y="4517136"/>
            <a:ext cx="9902952" cy="603504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143000" y="4517136"/>
            <a:ext cx="1280160" cy="603504"/>
          </a:xfrm>
          <a:prstGeom prst="roundRect">
            <a:avLst>
              <a:gd name="adj" fmla="val 8000"/>
            </a:avLst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83080" y="4517136"/>
            <a:ext cx="640080" cy="603504"/>
          </a:xfrm>
          <a:prstGeom prst="rect">
            <a:avLst/>
          </a:prstGeom>
          <a:solidFill>
            <a:srgbClr val="F79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4572000"/>
            <a:ext cx="1280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 Display"/>
              </a:rPr>
              <a:t>W4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4562856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79631"/>
                </a:solidFill>
                <a:latin typeface="Aptos Display"/>
              </a:rPr>
              <a:t>DESIGN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3560" y="4562856"/>
            <a:ext cx="4754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Clinical-warmth pack · colour SKUs · 8-second front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5065776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8D9DC"/>
                </a:solidFill>
                <a:latin typeface="Aptos"/>
              </a:rPr>
              <a:t>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71600" y="5276088"/>
            <a:ext cx="9445752" cy="603504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71600" y="5276088"/>
            <a:ext cx="1280160" cy="603504"/>
          </a:xfrm>
          <a:prstGeom prst="roundRect">
            <a:avLst>
              <a:gd name="adj" fmla="val 8000"/>
            </a:avLst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011680" y="5276088"/>
            <a:ext cx="640080" cy="603504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5330952"/>
            <a:ext cx="1280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ptos Display"/>
              </a:rPr>
              <a:t>W5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5321808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9F25"/>
                </a:solidFill>
                <a:latin typeface="Aptos Display"/>
              </a:rPr>
              <a:t>COMMUNICATION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5321808"/>
            <a:ext cx="4297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551"/>
                </a:solidFill>
                <a:latin typeface="Aptos"/>
              </a:rPr>
              <a:t>Every channel &amp; context, flexing without breaking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02368" y="2743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0736" y="301751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57307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454551"/>
                </a:solidFill>
                <a:latin typeface="Aptos"/>
              </a:rPr>
              <a:t>BEST IN GOODNESS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71E83"/>
                </a:solidFill>
                <a:latin typeface="Aptos"/>
              </a:rPr>
              <a:t>WORKSHOP 5 ·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57307F"/>
                </a:solidFill>
                <a:latin typeface="Aptos Display"/>
              </a:rPr>
              <a:t>Final output: three living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5566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55664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Confidential. Circulation Restricted.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Aptos"/>
              </a:rPr>
              <a:t>59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2801"/>
          </a:xfrm>
          <a:prstGeom prst="rect">
            <a:avLst/>
          </a:prstGeom>
          <a:solidFill>
            <a:srgbClr val="454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74552" cy="12801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551"/>
                </a:solidFill>
                <a:latin typeface="Aptos"/>
              </a:rPr>
              <a:t>The workshops resolve into three governing documents — so any team, agency or partner can execute NikoMom without it drifting.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40280"/>
            <a:ext cx="3602736" cy="228600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240280"/>
            <a:ext cx="3602736" cy="548640"/>
          </a:xfrm>
          <a:prstGeom prst="roundRect">
            <a:avLst>
              <a:gd name="adj" fmla="val 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3602736" cy="274320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13432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ptos Display"/>
              </a:rPr>
              <a:t>1  Brand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92608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Purpose · positioning · audience · barrier-science narrative spine · payoff-line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24528" y="2240280"/>
            <a:ext cx="3602736" cy="228600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24528" y="2240280"/>
            <a:ext cx="3602736" cy="548640"/>
          </a:xfrm>
          <a:prstGeom prst="roundRect">
            <a:avLst>
              <a:gd name="adj" fmla="val 8000"/>
            </a:avLst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24528" y="2514600"/>
            <a:ext cx="3602736" cy="274320"/>
          </a:xfrm>
          <a:prstGeom prst="rect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25696" y="2313432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ptos Display"/>
              </a:rPr>
              <a:t>2  Identity Guidelines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292608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Logo &amp; endorsement · colour &amp; SKU system · BarrierNest™ · pack architecture · mnemonic rules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1856" y="2240280"/>
            <a:ext cx="3602736" cy="2286000"/>
          </a:xfrm>
          <a:prstGeom prst="roundRect">
            <a:avLst>
              <a:gd name="adj" fmla="val 6000"/>
            </a:avLst>
          </a:prstGeom>
          <a:solidFill>
            <a:srgbClr val="F4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91856" y="2240280"/>
            <a:ext cx="3602736" cy="548640"/>
          </a:xfrm>
          <a:prstGeom prst="roundRect">
            <a:avLst>
              <a:gd name="adj" fmla="val 8000"/>
            </a:avLst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91856" y="2514600"/>
            <a:ext cx="3602736" cy="274320"/>
          </a:xfrm>
          <a:prstGeom prst="rect">
            <a:avLst/>
          </a:prstGeom>
          <a:solidFill>
            <a:srgbClr val="6B9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3024" y="2313432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ptos Display"/>
              </a:rPr>
              <a:t>3  Communication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292608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54551"/>
                </a:solidFill>
                <a:latin typeface="Aptos"/>
              </a:rPr>
              <a:t>Claim &amp; proof hierarchy · voice · channel &amp; context playbooks · CTA principles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709160"/>
            <a:ext cx="11274552" cy="1325880"/>
          </a:xfrm>
          <a:prstGeom prst="roundRect">
            <a:avLst>
              <a:gd name="adj" fmla="val 6000"/>
            </a:avLst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6460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BDDF3"/>
                </a:solidFill>
                <a:latin typeface="Aptos"/>
              </a:rPr>
              <a:t>LOCKED &amp; 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120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Locked:  </a:t>
            </a:r>
            <a:r>
              <a:rPr sz="1150" b="0" i="0">
                <a:solidFill>
                  <a:srgbClr val="EBDDF3"/>
                </a:solidFill>
                <a:latin typeface="Aptos"/>
              </a:rPr>
              <a:t>positioning · payoff system · BarrierNest™ · claim &amp; proof hierarchy · colour/SKU system · voice.    </a:t>
            </a:r>
            <a:r>
              <a:rPr sz="1200" b="1" i="0">
                <a:solidFill>
                  <a:srgbClr val="FFFFFF"/>
                </a:solidFill>
                <a:latin typeface="Aptos"/>
              </a:rPr>
              <a:t>Next:  </a:t>
            </a:r>
            <a:r>
              <a:rPr sz="1150" b="0" i="0">
                <a:solidFill>
                  <a:srgbClr val="EBDDF3"/>
                </a:solidFill>
                <a:latin typeface="Aptos"/>
              </a:rPr>
              <a:t>design execution of the six packs, the barrier-arc mnemonic, and the WhatsApp companion pilot.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57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46304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BDDF3"/>
                </a:solidFill>
                <a:latin typeface="Aptos"/>
              </a:rPr>
              <a:t>ONE STRATEGY, FIVE WORKSHOPS, ONE BRAND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5200" b="1" i="0">
                <a:solidFill>
                  <a:srgbClr val="FFFFFF"/>
                </a:solidFill>
                <a:latin typeface="Aptos Display"/>
              </a:rPr>
              <a:t>Protection, proven.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EBDDF3"/>
                </a:solidFill>
                <a:latin typeface="Aptos Display"/>
              </a:rPr>
              <a:t>NikoMom — India's Baby Skin-Barrier Company.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6048" y="3840480"/>
            <a:ext cx="2286000" cy="45720"/>
          </a:xfrm>
          <a:prstGeom prst="rect">
            <a:avLst/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E0D0EC"/>
                </a:solidFill>
                <a:latin typeface="Aptos"/>
              </a:rPr>
              <a:t>From category strategy to what a parent reads on the shelf: a coherent,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E0D0EC"/>
                </a:solidFill>
                <a:latin typeface="Aptos"/>
              </a:rPr>
              <a:t>differentiated, globally scalable brand system — integrated brand management, not a redesign.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52578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7N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5294376"/>
            <a:ext cx="2926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Aptos Display"/>
              </a:rPr>
              <a:t>Panacea Biotec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D9C4E8"/>
                </a:solidFill>
                <a:latin typeface="Aptos"/>
              </a:rPr>
              <a:t>BEST IN GOODNESS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9B8D8"/>
                </a:solidFill>
                <a:latin typeface="Aptos"/>
              </a:rPr>
              <a:t>July 2026   ·   Confidential. Circulation Restricted.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